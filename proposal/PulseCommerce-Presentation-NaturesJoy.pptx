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Proposal · Nature's Joy Herbal Cosmetics</a:t>
            </a:r>
          </a:p>
          <a:p>
            <a:r>
              <a:t>PulseCommerce</a:t>
            </a:r>
          </a:p>
          <a:p>
            <a:r>
              <a:t>Customer intelligence and WhatsApp campaigns for your WooCommerce store —</a:t>
            </a:r>
          </a:p>
          <a:p>
            <a:r>
              <a:t>built on your own infrastructure, with no per-message fees.</a:t>
            </a:r>
          </a:p>
          <a:p>
            <a:r>
              <a:t>₹35,000</a:t>
            </a:r>
          </a:p>
          <a:p>
            <a:r>
              <a:t>One-time, private gateway</a:t>
            </a:r>
          </a:p>
          <a:p>
            <a:r>
              <a:t>₹0</a:t>
            </a:r>
          </a:p>
          <a:p>
            <a:r>
              <a:t>Per message, forever</a:t>
            </a:r>
          </a:p>
          <a:p>
            <a:r>
              <a:t>13</a:t>
            </a:r>
          </a:p>
          <a:p>
            <a:r>
              <a:t>Modules delivered</a:t>
            </a:r>
          </a:p>
          <a:p>
            <a:r>
              <a:t>Setups Works · The Digital Agency</a:t>
            </a:r>
          </a:p>
          <a:p>
            <a:r>
              <a:t>setups.works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</a:t>
            </a:r>
          </a:p>
          <a:p>
            <a:r>
              <a:t>WooCommerce reports on orders.</a:t>
            </a:r>
          </a:p>
          <a:p>
            <a:r>
              <a:t>It says nothing about people.</a:t>
            </a:r>
          </a:p>
          <a:p>
            <a:r>
              <a:t>Your admin shows sales by date and a list of top products. It is</a:t>
            </a:r>
          </a:p>
          <a:p>
            <a:r>
              <a:t>transaction-centric by design. Every question below needs computation across</a:t>
            </a:r>
          </a:p>
          <a:p>
            <a:r>
              <a:t>your entire order history, and none can be read off a WooCommerce screen.</a:t>
            </a:r>
          </a:p>
          <a:p>
            <a:r>
              <a:t>Who is leaving</a:t>
            </a:r>
          </a:p>
          <a:p>
            <a:r>
              <a:t>Which customers have quietly stopped buying, judged against their own</a:t>
            </a:r>
          </a:p>
          <a:p>
            <a:r>
              <a:t>reorder rhythm rather than a fixed rule.</a:t>
            </a:r>
          </a:p>
          <a:p>
            <a:r>
              <a:t>What it is worth</a:t>
            </a:r>
          </a:p>
          <a:p>
            <a:r>
              <a:t>What each customer is likely to spend next, and how exposed the business</a:t>
            </a:r>
          </a:p>
          <a:p>
            <a:r>
              <a:t>is if the top few walk away.</a:t>
            </a:r>
          </a:p>
          <a:p>
            <a:r>
              <a:t>How to reach them</a:t>
            </a:r>
          </a:p>
          <a:p>
            <a:r>
              <a:t>Once a group worth contacting is identified — how do you actually message</a:t>
            </a:r>
          </a:p>
          <a:p>
            <a:r>
              <a:t>them without exporting a spreadsheet?</a:t>
            </a:r>
          </a:p>
          <a:p>
            <a:r>
              <a:t>PulseCommerce</a:t>
            </a:r>
          </a:p>
          <a:p>
            <a:r>
              <a:t>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store · August 2025 to July 2026</a:t>
            </a:r>
          </a:p>
          <a:p>
            <a:r>
              <a:t>Twelve months, measured</a:t>
            </a:r>
          </a:p>
          <a:p>
            <a:r>
              <a:t>Every figure on the next five slides was computed from naturesjoystore.com</a:t>
            </a:r>
          </a:p>
          <a:p>
            <a:r>
              <a:t>during development. Nothing here is an estimate or an illustration.</a:t>
            </a:r>
          </a:p>
          <a:p>
            <a:r>
              <a:t>₹70.7L</a:t>
            </a:r>
          </a:p>
          <a:p>
            <a:r>
              <a:t>Net revenue across twelve months</a:t>
            </a:r>
          </a:p>
          <a:p>
            <a:r>
              <a:t>*</a:t>
            </a:r>
          </a:p>
          <a:p>
            <a:r>
              <a:t>20,444</a:t>
            </a:r>
          </a:p>
          <a:p>
            <a:r>
              <a:t>Orders placed, 16,317 of them revenue-generating</a:t>
            </a:r>
          </a:p>
          <a:p>
            <a:r>
              <a:t>11,224</a:t>
            </a:r>
          </a:p>
          <a:p>
            <a:r>
              <a:t>Distinct customers</a:t>
            </a:r>
          </a:p>
          <a:p>
            <a:r>
              <a:t>40,602</a:t>
            </a:r>
          </a:p>
          <a:p>
            <a:r>
              <a:t>Units sold</a:t>
            </a:r>
          </a:p>
          <a:p>
            <a:r>
              <a:t>₹434</a:t>
            </a:r>
          </a:p>
          <a:p>
            <a:r>
              <a:t>Average order value</a:t>
            </a:r>
          </a:p>
          <a:p>
            <a:r>
              <a:t>₹632</a:t>
            </a:r>
          </a:p>
          <a:p>
            <a:r>
              <a:t>Revenue per customer, lifetime</a:t>
            </a:r>
          </a:p>
          <a:p>
            <a:r>
              <a:t>23.8%</a:t>
            </a:r>
          </a:p>
          <a:p>
            <a:r>
              <a:t>Customers who ordered more than once</a:t>
            </a:r>
          </a:p>
          <a:p>
            <a:r>
              <a:t>18.1%</a:t>
            </a:r>
          </a:p>
          <a:p>
            <a:r>
              <a:t>Orders cancelled — 3,709 of them</a:t>
            </a:r>
          </a:p>
          <a:p>
            <a:r>
              <a:t>**</a:t>
            </a:r>
          </a:p>
          <a:p>
            <a:r>
              <a:t>* · Net revenue excludes tax, shipping and refunds, and counts only completed, processing and on-hold orders. ** · Cancellation rate is cancelled orders as a share of all orders placed, including failed and pending.</a:t>
            </a:r>
          </a:p>
          <a:p>
            <a:r>
              <a:t>PulseCommerce</a:t>
            </a:r>
          </a:p>
          <a:p>
            <a:r>
              <a:t>Your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· monthly net</a:t>
            </a:r>
          </a:p>
          <a:p>
            <a:r>
              <a:t>A business that has found its level</a:t>
            </a:r>
          </a:p>
          <a:p>
            <a:r>
              <a:t>Aug</a:t>
            </a:r>
          </a:p>
          <a:p>
            <a:r>
              <a:t>Sep</a:t>
            </a:r>
          </a:p>
          <a:p>
            <a:r>
              <a:t>Oct</a:t>
            </a:r>
          </a:p>
          <a:p>
            <a:r>
              <a:t>Nov</a:t>
            </a:r>
          </a:p>
          <a:p>
            <a:r>
              <a:t>₹721k</a:t>
            </a:r>
          </a:p>
          <a:p>
            <a:r>
              <a:t>Dec</a:t>
            </a:r>
          </a:p>
          <a:p>
            <a:r>
              <a:t>Jan</a:t>
            </a:r>
          </a:p>
          <a:p>
            <a:r>
              <a:t>Feb</a:t>
            </a:r>
          </a:p>
          <a:p>
            <a:r>
              <a:t>Mar</a:t>
            </a:r>
          </a:p>
          <a:p>
            <a:r>
              <a:t>Apr</a:t>
            </a:r>
          </a:p>
          <a:p>
            <a:r>
              <a:t>May</a:t>
            </a:r>
          </a:p>
          <a:p>
            <a:r>
              <a:t>Jun</a:t>
            </a:r>
          </a:p>
          <a:p>
            <a:r>
              <a:t>Jul</a:t>
            </a:r>
          </a:p>
          <a:p>
            <a:r>
              <a:t>Revenue climbed steeply to November 2025, then settled into a band between</a:t>
            </a:r>
          </a:p>
          <a:p>
            <a:r>
              <a:t>₹5.7L and ₹7.0L a month and stayed there for eight months. Growth from here</a:t>
            </a:r>
          </a:p>
          <a:p>
            <a:r>
              <a:t>comes from the customers you already have, not from the trend continuing on</a:t>
            </a:r>
          </a:p>
          <a:p>
            <a:r>
              <a:t>its own.</a:t>
            </a:r>
          </a:p>
          <a:p>
            <a:r>
              <a:t>PulseCommerce</a:t>
            </a:r>
          </a:p>
          <a:p>
            <a:r>
              <a:t>Revenue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Products · share of revenue</a:t>
            </a:r>
          </a:p>
          <a:p>
            <a:r>
              <a:t>One product carries a third of the business</a:t>
            </a:r>
          </a:p>
          <a:p>
            <a:r>
              <a:t>33.3%</a:t>
            </a:r>
          </a:p>
          <a:p>
            <a:r>
              <a:t>17.2%</a:t>
            </a:r>
          </a:p>
          <a:p>
            <a:r>
              <a:t>6.5%</a:t>
            </a:r>
          </a:p>
          <a:p>
            <a:r>
              <a:t>34.7%</a:t>
            </a:r>
          </a:p>
          <a:p>
            <a:r>
              <a:t>Manjistha Soap</a:t>
            </a:r>
          </a:p>
          <a:p>
            <a:r>
              <a:t>Manjistha With Goat Milk Soap</a:t>
            </a:r>
          </a:p>
          <a:p>
            <a:r>
              <a:t>Nalangu Maavu Soap (Women)</a:t>
            </a:r>
          </a:p>
          <a:p>
            <a:r>
              <a:t>Nalangu Maavu With Goat Milk</a:t>
            </a:r>
          </a:p>
          <a:p>
            <a:r>
              <a:t>Goat Milk Soap</a:t>
            </a:r>
          </a:p>
          <a:p>
            <a:r>
              <a:t>All other products</a:t>
            </a:r>
          </a:p>
          <a:p>
            <a:r>
              <a:t>Manjistha Soap alone — ₹23.6L across 13,334 units</a:t>
            </a:r>
          </a:p>
          <a:p>
            <a:r>
              <a:t>56.9%</a:t>
            </a:r>
          </a:p>
          <a:p>
            <a:r>
              <a:t>Your top three products combined</a:t>
            </a:r>
          </a:p>
          <a:p>
            <a:r>
              <a:t>50.5%</a:t>
            </a:r>
          </a:p>
          <a:p>
            <a:r>
              <a:t>The two Manjistha variants together</a:t>
            </a:r>
          </a:p>
          <a:p>
            <a:r>
              <a:t>This is the single largest risk in the data. A stock-out, a supply problem</a:t>
            </a:r>
          </a:p>
          <a:p>
            <a:r>
              <a:t>or a formulation change on one product would take a third of revenue with it.</a:t>
            </a:r>
          </a:p>
          <a:p>
            <a:r>
              <a:t>Inventory planning and reorder alerts exist for exactly this.</a:t>
            </a:r>
          </a:p>
          <a:p>
            <a:r>
              <a:t>PulseCommerce</a:t>
            </a:r>
          </a:p>
          <a:p>
            <a:r>
              <a:t>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Geography · net revenue by state</a:t>
            </a:r>
          </a:p>
          <a:p>
            <a:r>
              <a:t>Tamil Nadu is the business</a:t>
            </a:r>
          </a:p>
          <a:p>
            <a:r>
              <a:t>Tamil Nadu</a:t>
            </a:r>
          </a:p>
          <a:p>
            <a:r>
              <a:t>₹61.3L · 86.5%</a:t>
            </a:r>
          </a:p>
          <a:p>
            <a:r>
              <a:t>Karnataka</a:t>
            </a:r>
          </a:p>
          <a:p>
            <a:r>
              <a:t>₹5.1L · 7.2%</a:t>
            </a:r>
          </a:p>
          <a:p>
            <a:r>
              <a:t>Puducherry</a:t>
            </a:r>
          </a:p>
          <a:p>
            <a:r>
              <a:t>₹1.4L · 1.9%</a:t>
            </a:r>
          </a:p>
          <a:p>
            <a:r>
              <a:t>Kerala</a:t>
            </a:r>
          </a:p>
          <a:p>
            <a:r>
              <a:t>₹0.9L · 1.3%</a:t>
            </a:r>
          </a:p>
          <a:p>
            <a:r>
              <a:t>Andhra Pradesh</a:t>
            </a:r>
          </a:p>
          <a:p>
            <a:r>
              <a:t>₹0.7L · 0.9%</a:t>
            </a:r>
          </a:p>
          <a:p>
            <a:r>
              <a:t>86.5%</a:t>
            </a:r>
          </a:p>
          <a:p>
            <a:r>
              <a:t>Of revenue comes from Tamil Nadu</a:t>
            </a:r>
          </a:p>
          <a:p>
            <a:r>
              <a:t>₹19.1L</a:t>
            </a:r>
          </a:p>
          <a:p>
            <a:r>
              <a:t>From Chennai alone — 27% of everything</a:t>
            </a:r>
          </a:p>
          <a:p>
            <a:r>
              <a:t>₹5.1L</a:t>
            </a:r>
          </a:p>
          <a:p>
            <a:r>
              <a:t>Karnataka, the clearest expansion signal</a:t>
            </a:r>
          </a:p>
          <a:p>
            <a:r>
              <a:t>Concentration this high is a strength for logistics and a risk for growth.</a:t>
            </a:r>
          </a:p>
          <a:p>
            <a:r>
              <a:t>Karnataka is already buying without being targeted, which makes it the</a:t>
            </a:r>
          </a:p>
          <a:p>
            <a:r>
              <a:t>cheapest market to test a campaign in.</a:t>
            </a:r>
          </a:p>
          <a:p>
            <a:r>
              <a:t>PulseCommerce</a:t>
            </a:r>
          </a:p>
          <a:p>
            <a:r>
              <a:t>Geography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opportunity</a:t>
            </a:r>
          </a:p>
          <a:p>
            <a:r>
              <a:t>8,551 people bought once and never came back</a:t>
            </a:r>
          </a:p>
          <a:p>
            <a:r>
              <a:t>11,224</a:t>
            </a:r>
          </a:p>
          <a:p>
            <a:r>
              <a:t>Customers in twelve months</a:t>
            </a:r>
          </a:p>
          <a:p>
            <a:r>
              <a:t>2,673</a:t>
            </a:r>
          </a:p>
          <a:p>
            <a:r>
              <a:t>Ordered more than once</a:t>
            </a:r>
          </a:p>
          <a:p>
            <a:r>
              <a:t>8,551</a:t>
            </a:r>
          </a:p>
          <a:p>
            <a:r>
              <a:t>Ordered exactly once</a:t>
            </a:r>
          </a:p>
          <a:p>
            <a:r>
              <a:t>76.2%</a:t>
            </a:r>
          </a:p>
          <a:p>
            <a:r>
              <a:t>Of your customer base, never reactivated</a:t>
            </a:r>
          </a:p>
          <a:p>
            <a:r>
              <a:t>If a win-back campaign converts</a:t>
            </a:r>
          </a:p>
          <a:p>
            <a:r>
              <a:t>Customers returning</a:t>
            </a:r>
          </a:p>
          <a:p>
            <a:r>
              <a:t>Revenue at ₹434 AOV</a:t>
            </a:r>
          </a:p>
          <a:p>
            <a:r>
              <a:t>*</a:t>
            </a:r>
          </a:p>
          <a:p>
            <a:r>
              <a:t>2%</a:t>
            </a:r>
          </a:p>
          <a:p>
            <a:r>
              <a:t>171</a:t>
            </a:r>
          </a:p>
          <a:p>
            <a:r>
              <a:t>₹74,214</a:t>
            </a:r>
          </a:p>
          <a:p>
            <a:r>
              <a:t>5%</a:t>
            </a:r>
          </a:p>
          <a:p>
            <a:r>
              <a:t>428</a:t>
            </a:r>
          </a:p>
          <a:p>
            <a:r>
              <a:t>₹1,85,752</a:t>
            </a:r>
          </a:p>
          <a:p>
            <a:r>
              <a:t>10%</a:t>
            </a:r>
          </a:p>
          <a:p>
            <a:r>
              <a:t>855</a:t>
            </a:r>
          </a:p>
          <a:p>
            <a:r>
              <a:t>₹3,71,070</a:t>
            </a:r>
          </a:p>
          <a:p>
            <a:r>
              <a:t>At a 2% conversion — deliberately pessimistic for customers who have</a:t>
            </a:r>
          </a:p>
          <a:p>
            <a:r>
              <a:t>already bought from you once — a single win-back campaign returns roughly twice the cost of the Cloud API build.</a:t>
            </a:r>
          </a:p>
          <a:p>
            <a:r>
              <a:t>* · Illustrative only. Conversion rates are assumptions, not forecasts or guarantees, and assume the average order value observed over the period holds.</a:t>
            </a:r>
          </a:p>
          <a:p>
            <a:r>
              <a:t>PulseCommerce</a:t>
            </a:r>
          </a:p>
          <a:p>
            <a:r>
              <a:t>Opportunity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delivered</a:t>
            </a:r>
          </a:p>
          <a:p>
            <a:r>
              <a:t>Thirteen modules</a:t>
            </a:r>
          </a:p>
          <a:p>
            <a:r>
              <a:t>01</a:t>
            </a:r>
          </a:p>
          <a:p>
            <a:r>
              <a:t>Revenue &amp; performance</a:t>
            </a:r>
          </a:p>
          <a:p>
            <a:r>
              <a:t>Every KPI against the equal-length prior period</a:t>
            </a:r>
          </a:p>
          <a:p>
            <a:r>
              <a:t>02</a:t>
            </a:r>
          </a:p>
          <a:p>
            <a:r>
              <a:t>Customer analytics</a:t>
            </a:r>
          </a:p>
          <a:p>
            <a:r>
              <a:t>RFM, ten segments, tiers, lifetime value, churn risk</a:t>
            </a:r>
          </a:p>
          <a:p>
            <a:r>
              <a:t>03</a:t>
            </a:r>
          </a:p>
          <a:p>
            <a:r>
              <a:t>Customer profiles</a:t>
            </a:r>
          </a:p>
          <a:p>
            <a:r>
              <a:t>Full history, channel, device, what they buy</a:t>
            </a:r>
          </a:p>
          <a:p>
            <a:r>
              <a:t>04</a:t>
            </a:r>
          </a:p>
          <a:p>
            <a:r>
              <a:t>Acquisition &amp; retention</a:t>
            </a:r>
          </a:p>
          <a:p>
            <a:r>
              <a:t>Channels, devices, cohorts, time to second order</a:t>
            </a:r>
          </a:p>
          <a:p>
            <a:r>
              <a:t>05</a:t>
            </a:r>
          </a:p>
          <a:p>
            <a:r>
              <a:t>Campaigns &amp; audiences</a:t>
            </a:r>
          </a:p>
          <a:p>
            <a:r>
              <a:t>Goal-driven audience builder with live reach</a:t>
            </a:r>
          </a:p>
          <a:p>
            <a:r>
              <a:t>06</a:t>
            </a:r>
          </a:p>
          <a:p>
            <a:r>
              <a:t>WhatsApp campaigns</a:t>
            </a:r>
          </a:p>
          <a:p>
            <a:r>
              <a:t>Nine templates, personalisation, coupons, pacing</a:t>
            </a:r>
          </a:p>
          <a:p>
            <a:r>
              <a:t>07</a:t>
            </a:r>
          </a:p>
          <a:p>
            <a:r>
              <a:t>Shared WhatsApp inbox</a:t>
            </a:r>
          </a:p>
          <a:p>
            <a:r>
              <a:t>Replies, with the customer's history beside them</a:t>
            </a:r>
          </a:p>
          <a:p>
            <a:r>
              <a:t>08</a:t>
            </a:r>
          </a:p>
          <a:p>
            <a:r>
              <a:t>Product analytics</a:t>
            </a:r>
          </a:p>
          <a:p>
            <a:r>
              <a:t>ABC classification, refund rate, basket affinity</a:t>
            </a:r>
          </a:p>
          <a:p>
            <a:r>
              <a:t>09</a:t>
            </a:r>
          </a:p>
          <a:p>
            <a:r>
              <a:t>Inventory planning</a:t>
            </a:r>
          </a:p>
          <a:p>
            <a:r>
              <a:t>Days of cover, reorder points, revenue at risk</a:t>
            </a:r>
          </a:p>
          <a:p>
            <a:r>
              <a:t>10</a:t>
            </a:r>
          </a:p>
          <a:p>
            <a:r>
              <a:t>Orders &amp; operations</a:t>
            </a:r>
          </a:p>
          <a:p>
            <a:r>
              <a:t>Register, payments, coupons, trading heatmap</a:t>
            </a:r>
          </a:p>
          <a:p>
            <a:r>
              <a:t>11</a:t>
            </a:r>
          </a:p>
          <a:p>
            <a:r>
              <a:t>Forecasting</a:t>
            </a:r>
          </a:p>
          <a:p>
            <a:r>
              <a:t>Trend and seasonality with a 95% band</a:t>
            </a:r>
          </a:p>
          <a:p>
            <a:r>
              <a:t>12</a:t>
            </a:r>
          </a:p>
          <a:p>
            <a:r>
              <a:t>Geography</a:t>
            </a:r>
          </a:p>
          <a:p>
            <a:r>
              <a:t>Revenue by state, city and region</a:t>
            </a:r>
          </a:p>
          <a:p>
            <a:r>
              <a:t>13</a:t>
            </a:r>
          </a:p>
          <a:p>
            <a:r>
              <a:t>Reports &amp; exports</a:t>
            </a:r>
          </a:p>
          <a:p>
            <a:r>
              <a:t>Ten reports as Excel, PDF or CSV</a:t>
            </a:r>
          </a:p>
          <a:p>
            <a:r>
              <a:t>All included</a:t>
            </a:r>
          </a:p>
          <a:p>
            <a:r>
              <a:t>One price, no per-module charge</a:t>
            </a:r>
          </a:p>
          <a:p>
            <a:r>
              <a:t>PulseCommerce</a:t>
            </a:r>
          </a:p>
          <a:p>
            <a:r>
              <a:t>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 of 13</a:t>
            </a:r>
          </a:p>
          <a:p>
            <a:r>
              <a:t>Revenue &amp; performance</a:t>
            </a:r>
          </a:p>
          <a:p>
            <a:r>
              <a:t>What did the business actually do, and is it better or worse than the period before?</a:t>
            </a:r>
          </a:p>
          <a:p>
            <a:r>
              <a:t>₹70.7L</a:t>
            </a:r>
          </a:p>
          <a:p>
            <a:r>
              <a:t>Net revenue, twelve months</a:t>
            </a:r>
          </a:p>
          <a:p>
            <a:r>
              <a:t>*</a:t>
            </a:r>
          </a:p>
          <a:p>
            <a:r>
              <a:t>₹434</a:t>
            </a:r>
          </a:p>
          <a:p>
            <a:r>
              <a:t>Average order value</a:t>
            </a:r>
          </a:p>
          <a:p>
            <a:r>
              <a:t>₹7.21L</a:t>
            </a:r>
          </a:p>
          <a:p>
            <a:r>
              <a:t>Best month — November 2025</a:t>
            </a:r>
          </a:p>
          <a:p>
            <a:r>
              <a:t>40,602</a:t>
            </a:r>
          </a:p>
          <a:p>
            <a:r>
              <a:t>Units sold</a:t>
            </a:r>
          </a:p>
          <a:p>
            <a:r>
              <a:t>Every figure is shown against the equal-length previous period, so "good month" is a comparison rather than a feeling. Revenue and orders share one axis, because two axes on one chart can be drawn to say anything.</a:t>
            </a:r>
          </a:p>
          <a:p>
            <a:r>
              <a:t>* · Net revenue excludes tax, shipping and refunds, and counts only orders in completed, processing or on-hold status. Window: 1 August 2025 to 31 July 2026.</a:t>
            </a:r>
          </a:p>
          <a:p>
            <a:r>
              <a:t>PulseCommerce</a:t>
            </a:r>
          </a:p>
          <a:p>
            <a:r>
              <a:t>Module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2 of 13</a:t>
            </a:r>
          </a:p>
          <a:p>
            <a:r>
              <a:t>Customer analytics</a:t>
            </a:r>
          </a:p>
          <a:p>
            <a:r>
              <a:t>Who is worth keeping, who is slipping away, and how exposed are you if the best ones leave?</a:t>
            </a:r>
          </a:p>
          <a:p>
            <a:r>
              <a:t>11,224</a:t>
            </a:r>
          </a:p>
          <a:p>
            <a:r>
              <a:t>Customers scored</a:t>
            </a:r>
          </a:p>
          <a:p>
            <a:r>
              <a:t>9.1%</a:t>
            </a:r>
          </a:p>
          <a:p>
            <a:r>
              <a:t>Of revenue from your top 1%</a:t>
            </a:r>
          </a:p>
          <a:p>
            <a:r>
              <a:t>₹17,314</a:t>
            </a:r>
          </a:p>
          <a:p>
            <a:r>
              <a:t>Your single largest customer, across 17 orders</a:t>
            </a:r>
          </a:p>
          <a:p>
            <a:r>
              <a:t>2,673</a:t>
            </a:r>
          </a:p>
          <a:p>
            <a:r>
              <a:t>Customers who ordered more than once</a:t>
            </a:r>
          </a:p>
          <a:p>
            <a:r>
              <a:t>Every customer gets an RFM score, a value tier, a predicted lifetime value and a churn risk judged against their own reorder rhythm — so a seasonal buyer is not flagged as lost for behaving normally.</a:t>
            </a:r>
          </a:p>
          <a:p>
            <a:r>
              <a:t>PulseCommerce</a:t>
            </a:r>
          </a:p>
          <a:p>
            <a:r>
              <a:t>Module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3 of 13</a:t>
            </a:r>
          </a:p>
          <a:p>
            <a:r>
              <a:t>Customer profiles</a:t>
            </a:r>
          </a:p>
          <a:p>
            <a:r>
              <a:t>Everything about one person, on one screen, before you speak to them.</a:t>
            </a:r>
          </a:p>
          <a:p>
            <a:r>
              <a:t>Your top customer</a:t>
            </a:r>
          </a:p>
          <a:p>
            <a:r>
              <a:t>Value</a:t>
            </a:r>
          </a:p>
          <a:p>
            <a:r>
              <a:t>Orders placed</a:t>
            </a:r>
          </a:p>
          <a:p>
            <a:r>
              <a:t>17</a:t>
            </a:r>
          </a:p>
          <a:p>
            <a:r>
              <a:t>Lifetime spend</a:t>
            </a:r>
          </a:p>
          <a:p>
            <a:r>
              <a:t>₹17,314</a:t>
            </a:r>
          </a:p>
          <a:p>
            <a:r>
              <a:t>Average order</a:t>
            </a:r>
          </a:p>
          <a:p>
            <a:r>
              <a:t>₹1,018</a:t>
            </a:r>
          </a:p>
          <a:p>
            <a:r>
              <a:t>Segment</a:t>
            </a:r>
          </a:p>
          <a:p>
            <a:r>
              <a:t>Champion</a:t>
            </a:r>
          </a:p>
          <a:p>
            <a:r>
              <a:t>Churn risk</a:t>
            </a:r>
          </a:p>
          <a:p>
            <a:r>
              <a:t>Low</a:t>
            </a:r>
          </a:p>
          <a:p>
            <a:r>
              <a:t>Buys most</a:t>
            </a:r>
          </a:p>
          <a:p>
            <a:r>
              <a:t>Manjistha Soap</a:t>
            </a:r>
          </a:p>
          <a:p>
            <a:r>
              <a:t>Identity, location, how they found you, what device they used, what they buy, their revenue percentile, and every order they have placed — reachable from any table in the product.</a:t>
            </a:r>
          </a:p>
          <a:p>
            <a:r>
              <a:t>PulseCommerce</a:t>
            </a:r>
          </a:p>
          <a:p>
            <a:r>
              <a:t>Module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4 of 13</a:t>
            </a:r>
          </a:p>
          <a:p>
            <a:r>
              <a:t>Acquisition &amp; retention</a:t>
            </a:r>
          </a:p>
          <a:p>
            <a:r>
              <a:t>Where do new customers come from, and how long before they come back?</a:t>
            </a:r>
          </a:p>
          <a:p>
            <a:r>
              <a:t>8,551</a:t>
            </a:r>
          </a:p>
          <a:p>
            <a:r>
              <a:t>Customers who ordered exactly once</a:t>
            </a:r>
          </a:p>
          <a:p>
            <a:r>
              <a:t>39 days</a:t>
            </a:r>
          </a:p>
          <a:p>
            <a:r>
              <a:t>Median gap before a second order</a:t>
            </a:r>
          </a:p>
          <a:p>
            <a:r>
              <a:t>23.8%</a:t>
            </a:r>
          </a:p>
          <a:p>
            <a:r>
              <a:t>Repeat rate across the base</a:t>
            </a:r>
          </a:p>
          <a:p>
            <a:r>
              <a:t>12</a:t>
            </a:r>
          </a:p>
          <a:p>
            <a:r>
              <a:t>Monthly cohorts tracked</a:t>
            </a:r>
          </a:p>
          <a:p>
            <a:r>
              <a:t>The 39-day median is the number to act on: it defines the window a follow-up should land in. Cohorts are tracked monthly, so you can see whether customers acquired in March behave differently from those acquired in June.</a:t>
            </a:r>
          </a:p>
          <a:p>
            <a:r>
              <a:t>PulseCommerce</a:t>
            </a:r>
          </a:p>
          <a:p>
            <a:r>
              <a:t>Module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5 of 13</a:t>
            </a:r>
          </a:p>
          <a:p>
            <a:r>
              <a:t>Campaigns &amp; audiences</a:t>
            </a:r>
          </a:p>
          <a:p>
            <a:r>
              <a:t>Turn a finding into a list of people, with the value at stake shown before you send.</a:t>
            </a:r>
          </a:p>
          <a:p>
            <a:r>
              <a:t>Audience</a:t>
            </a:r>
          </a:p>
          <a:p>
            <a:r>
              <a:t>Customers</a:t>
            </a:r>
          </a:p>
          <a:p>
            <a:r>
              <a:t>Revenue represented</a:t>
            </a:r>
          </a:p>
          <a:p>
            <a:r>
              <a:t>Bought once, still recent</a:t>
            </a:r>
          </a:p>
          <a:p>
            <a:r>
              <a:t>8,551</a:t>
            </a:r>
          </a:p>
          <a:p>
            <a:r>
              <a:t>₹37.1L potential</a:t>
            </a:r>
          </a:p>
          <a:p>
            <a:r>
              <a:t>*</a:t>
            </a:r>
          </a:p>
          <a:p>
            <a:r>
              <a:t>Ordered 2+ times</a:t>
            </a:r>
          </a:p>
          <a:p>
            <a:r>
              <a:t>2,673</a:t>
            </a:r>
          </a:p>
          <a:p>
            <a:r>
              <a:t>₹33.6L historic</a:t>
            </a:r>
          </a:p>
          <a:p>
            <a:r>
              <a:t>Top 1% by spend</a:t>
            </a:r>
          </a:p>
          <a:p>
            <a:r>
              <a:t>113</a:t>
            </a:r>
          </a:p>
          <a:p>
            <a:r>
              <a:t>₹6.4L historic</a:t>
            </a:r>
          </a:p>
          <a:p>
            <a:r>
              <a:t>Karnataka customers</a:t>
            </a:r>
          </a:p>
          <a:p>
            <a:r>
              <a:t>~840</a:t>
            </a:r>
          </a:p>
          <a:p>
            <a:r>
              <a:t>₹5.1L historic</a:t>
            </a:r>
          </a:p>
          <a:p>
            <a:r>
              <a:t>Six goal-driven presets, or build your own from segment, tier, spend, recency, churn risk, location and product bought. Reach and revenue update as you filter.</a:t>
            </a:r>
          </a:p>
          <a:p>
            <a:r>
              <a:t>* · Potential revenue is the count multiplied by the average order value. It is an illustration of scale, not a forecast, and assumes nothing about conversion.</a:t>
            </a:r>
          </a:p>
          <a:p>
            <a:r>
              <a:t>PulseCommerce</a:t>
            </a:r>
          </a:p>
          <a:p>
            <a:r>
              <a:t>Module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6 of 13</a:t>
            </a:r>
          </a:p>
          <a:p>
            <a:r>
              <a:t>WhatsApp campaigns</a:t>
            </a:r>
          </a:p>
          <a:p>
            <a:r>
              <a:t>Message that audience directly, with each person seeing what they actually buy.</a:t>
            </a:r>
          </a:p>
          <a:p>
            <a:r>
              <a:t>As one customer receives it</a:t>
            </a:r>
          </a:p>
          <a:p>
            <a:r>
              <a:t>Hi Priya, it has been a while since your last</a:t>
            </a:r>
          </a:p>
          <a:p>
            <a:r>
              <a:t>Manjistha Soap</a:t>
            </a:r>
          </a:p>
          <a:p>
            <a:r>
              <a:t>Here is 10% off with code</a:t>
            </a:r>
          </a:p>
          <a:p>
            <a:r>
              <a:t>SAVE10NOW</a:t>
            </a:r>
          </a:p>
          <a:p>
            <a:r>
              <a:t>:</a:t>
            </a:r>
          </a:p>
          <a:p>
            <a:r>
              <a:t>naturesjoystore.com/product/manjistha-soap</a:t>
            </a:r>
          </a:p>
          <a:p>
            <a:r>
              <a:t>— Nature's Joy</a:t>
            </a:r>
          </a:p>
          <a:p>
            <a:r>
              <a:t>Nine templates</a:t>
            </a:r>
          </a:p>
          <a:p>
            <a:r>
              <a:t>for reorder, win-back, second order, review requests and offers</a:t>
            </a:r>
          </a:p>
          <a:p>
            <a:r>
              <a:t>Ten variables</a:t>
            </a:r>
          </a:p>
          <a:p>
            <a:r>
              <a:t>resolved per person from their own orders</a:t>
            </a:r>
          </a:p>
          <a:p>
            <a:r>
              <a:t>Coupons created</a:t>
            </a:r>
          </a:p>
          <a:p>
            <a:r>
              <a:t>in WooCommerce, limited to one use each</a:t>
            </a:r>
          </a:p>
          <a:p>
            <a:r>
              <a:t>Paced sending</a:t>
            </a:r>
          </a:p>
          <a:p>
            <a:r>
              <a:t>that survives a gateway restart</a:t>
            </a:r>
          </a:p>
          <a:p>
            <a:r>
              <a:t>*</a:t>
            </a:r>
          </a:p>
          <a:p>
            <a:r>
              <a:t>* · Sending uses a self-hosted gateway rather than Meta's official API. Delivery is not guaranteed and the linked number carries a risk of restriction by WhatsApp. A dedicated number should be used.</a:t>
            </a:r>
          </a:p>
          <a:p>
            <a:r>
              <a:t>PulseCommerce</a:t>
            </a:r>
          </a:p>
          <a:p>
            <a:r>
              <a:t>Module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7 of 13</a:t>
            </a:r>
          </a:p>
          <a:p>
            <a:r>
              <a:t>Shared WhatsApp inbox</a:t>
            </a:r>
          </a:p>
          <a:p>
            <a:r>
              <a:t>Replies land where the business can see them, next to who sent them.</a:t>
            </a:r>
          </a:p>
          <a:p>
            <a:r>
              <a:t>Live</a:t>
            </a:r>
          </a:p>
          <a:p>
            <a:r>
              <a:t>Replies arrive without a refresh</a:t>
            </a:r>
          </a:p>
          <a:p>
            <a:r>
              <a:t>Full</a:t>
            </a:r>
          </a:p>
          <a:p>
            <a:r>
              <a:t>Order history beside every conversation</a:t>
            </a:r>
          </a:p>
          <a:p>
            <a:r>
              <a:t>Any</a:t>
            </a:r>
          </a:p>
          <a:p>
            <a:r>
              <a:t>Text, media or a catalogue product</a:t>
            </a:r>
          </a:p>
          <a:p>
            <a:r>
              <a:t>Search</a:t>
            </a:r>
          </a:p>
          <a:p>
            <a:r>
              <a:t>Across names and numbers</a:t>
            </a:r>
          </a:p>
          <a:p>
            <a:r>
              <a:t>Answering "is this back in stock?" is a different conversation when you can see the person asking has ordered eleven times. The opt-out list applies here too.</a:t>
            </a:r>
          </a:p>
          <a:p>
            <a:r>
              <a:t>PulseCommerce</a:t>
            </a:r>
          </a:p>
          <a:p>
            <a:r>
              <a:t>Module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WhatsApp · templates</a:t>
            </a:r>
          </a:p>
          <a:p>
            <a:r>
              <a:t>Nine messages, each written for a job</a:t>
            </a:r>
          </a:p>
          <a:p>
            <a:r>
              <a:t>Template</a:t>
            </a:r>
          </a:p>
          <a:p>
            <a:r>
              <a:t>What it says</a:t>
            </a:r>
          </a:p>
          <a:p>
            <a:r>
              <a:t>When to send it</a:t>
            </a:r>
          </a:p>
          <a:p>
            <a:r>
              <a:t>Reorder</a:t>
            </a:r>
          </a:p>
          <a:p>
            <a:r>
              <a:t>Names the product they bought, links to it</a:t>
            </a:r>
          </a:p>
          <a:p>
            <a:r>
              <a:t>Their usual reorder gap has passed</a:t>
            </a:r>
          </a:p>
          <a:p>
            <a:r>
              <a:t>Category arrivals</a:t>
            </a:r>
          </a:p>
          <a:p>
            <a:r>
              <a:t>New items in the range they already shop</a:t>
            </a:r>
          </a:p>
          <a:p>
            <a:r>
              <a:t>You add stock to a category</a:t>
            </a:r>
          </a:p>
          <a:p>
            <a:r>
              <a:t>Win back</a:t>
            </a:r>
          </a:p>
          <a:p>
            <a:r>
              <a:t>References their product and last order date</a:t>
            </a:r>
          </a:p>
          <a:p>
            <a:r>
              <a:t>At Risk or Hibernating segments</a:t>
            </a:r>
          </a:p>
          <a:p>
            <a:r>
              <a:t>Second order</a:t>
            </a:r>
          </a:p>
          <a:p>
            <a:r>
              <a:t>Asks how they got on, invites a repeat</a:t>
            </a:r>
          </a:p>
          <a:p>
            <a:r>
              <a:t>One-time buyers, still recent</a:t>
            </a:r>
          </a:p>
          <a:p>
            <a:r>
              <a:t>VIP thank you</a:t>
            </a:r>
          </a:p>
          <a:p>
            <a:r>
              <a:t>Names their order count, invites a reply</a:t>
            </a:r>
          </a:p>
          <a:p>
            <a:r>
              <a:t>Champions and top-tier customers</a:t>
            </a:r>
          </a:p>
          <a:p>
            <a:r>
              <a:t>Review request</a:t>
            </a:r>
          </a:p>
          <a:p>
            <a:r>
              <a:t>Asks for feedback on what they buy</a:t>
            </a:r>
          </a:p>
          <a:p>
            <a:r>
              <a:t>Repeat customers with a recent order</a:t>
            </a:r>
          </a:p>
          <a:p>
            <a:r>
              <a:t>Coupon + product</a:t>
            </a:r>
          </a:p>
          <a:p>
            <a:r>
              <a:t>A discount tied to their own product</a:t>
            </a:r>
          </a:p>
          <a:p>
            <a:r>
              <a:t>Lapsed customers worth converting</a:t>
            </a:r>
          </a:p>
          <a:p>
            <a:r>
              <a:t>Coupon only</a:t>
            </a:r>
          </a:p>
          <a:p>
            <a:r>
              <a:t>A store-wide discount offer</a:t>
            </a:r>
          </a:p>
          <a:p>
            <a:r>
              <a:t>Any audience, no clear favourite</a:t>
            </a:r>
          </a:p>
          <a:p>
            <a:r>
              <a:t>Announcement</a:t>
            </a:r>
          </a:p>
          <a:p>
            <a:r>
              <a:t>Your own words, greeting still personal</a:t>
            </a:r>
          </a:p>
          <a:p>
            <a:r>
              <a:t>News, hours, anything else</a:t>
            </a:r>
          </a:p>
          <a:p>
            <a:r>
              <a:t>Templates are edited freely before sending. No approval process applies, unlike Meta's official API.</a:t>
            </a:r>
          </a:p>
          <a:p>
            <a:r>
              <a:t>PulseCommerce</a:t>
            </a:r>
          </a:p>
          <a:p>
            <a:r>
              <a:t>WhatsApp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WhatsApp · personalisation</a:t>
            </a:r>
          </a:p>
          <a:p>
            <a:r>
              <a:t>Ten variables, resolved per person</a:t>
            </a:r>
          </a:p>
          <a:p>
            <a:r>
              <a:t>Variable</a:t>
            </a:r>
          </a:p>
          <a:p>
            <a:r>
              <a:t>Becomes, for one customer</a:t>
            </a:r>
          </a:p>
          <a:p>
            <a:r>
              <a:t>Priya</a:t>
            </a:r>
          </a:p>
          <a:p>
            <a:r>
              <a:t>Manjistha Soap</a:t>
            </a:r>
          </a:p>
          <a:p>
            <a:r>
              <a:t>The buy link for that product</a:t>
            </a:r>
          </a:p>
          <a:p>
            <a:r>
              <a:t>Herbal Soaps</a:t>
            </a:r>
          </a:p>
          <a:p>
            <a:r>
              <a:t>14 March</a:t>
            </a:r>
          </a:p>
          <a:p>
            <a:r>
              <a:t>7</a:t>
            </a:r>
          </a:p>
          <a:p>
            <a:r>
              <a:t>₹4,180</a:t>
            </a:r>
          </a:p>
          <a:p>
            <a:r>
              <a:t>Nature's Joy</a:t>
            </a:r>
          </a:p>
          <a:p>
            <a:r>
              <a:t>SAVE10NOW</a:t>
            </a:r>
          </a:p>
          <a:p>
            <a:r>
              <a:t>10% off</a:t>
            </a:r>
          </a:p>
          <a:p>
            <a:r>
              <a:t>The product chosen is the one they have spent the most on, not their most</a:t>
            </a:r>
          </a:p>
          <a:p>
            <a:r>
              <a:t>recent — a one-off small purchase should not become the thing a reorder</a:t>
            </a:r>
          </a:p>
          <a:p>
            <a:r>
              <a:t>message is built around. A variable with no value for someone is removed and</a:t>
            </a:r>
          </a:p>
          <a:p>
            <a:r>
              <a:t>the sentence tidied, so nobody receives a literal placeholder or a dangling</a:t>
            </a:r>
          </a:p>
          <a:p>
            <a:r>
              <a:t>comma.</a:t>
            </a:r>
          </a:p>
          <a:p>
            <a:r>
              <a:t>PulseCommerce</a:t>
            </a:r>
          </a:p>
          <a:p>
            <a:r>
              <a:t>WhatsApp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WhatsApp · coupons</a:t>
            </a:r>
          </a:p>
          <a:p>
            <a:r>
              <a:t>Discounts created, tracked and spent</a:t>
            </a:r>
          </a:p>
          <a:p>
            <a:r>
              <a:t>Created in WooCommerce</a:t>
            </a:r>
          </a:p>
          <a:p>
            <a:r>
              <a:t>from the campaign screen — the code exists in your store immediately</a:t>
            </a:r>
          </a:p>
          <a:p>
            <a:r>
              <a:t>One use per customer</a:t>
            </a:r>
          </a:p>
          <a:p>
            <a:r>
              <a:t>, so a code shared publicly cannot be spent repeatedly</a:t>
            </a:r>
          </a:p>
          <a:p>
            <a:r>
              <a:t>Expires</a:t>
            </a:r>
          </a:p>
          <a:p>
            <a:r>
              <a:t>on a date you set, so campaign codes do not linger</a:t>
            </a:r>
          </a:p>
          <a:p>
            <a:r>
              <a:t>Restricted to the product</a:t>
            </a:r>
          </a:p>
          <a:p>
            <a:r>
              <a:t>being promoted, when you pick one</a:t>
            </a:r>
          </a:p>
          <a:p>
            <a:r>
              <a:t>Codes avoid O, 0, I and 1</a:t>
            </a:r>
          </a:p>
          <a:p>
            <a:r>
              <a:t>, because they get read off a phone and typed at a checkout</a:t>
            </a:r>
          </a:p>
          <a:p>
            <a:r>
              <a:t>Expired or exhausted codes cannot be selected</a:t>
            </a:r>
          </a:p>
          <a:p>
            <a:r>
              <a:t>— a code that will be refused is worse than none</a:t>
            </a:r>
          </a:p>
          <a:p>
            <a:r>
              <a:t>Coupon performance, reported back</a:t>
            </a:r>
          </a:p>
          <a:p>
            <a:r>
              <a:t>Uses · Discount given · Revenue produced · Return on discount</a:t>
            </a:r>
          </a:p>
          <a:p>
            <a:r>
              <a:t>You see whether the offer bought incremental orders or simply discounted</a:t>
            </a:r>
          </a:p>
          <a:p>
            <a:r>
              <a:t>sales that would have happened anyway.</a:t>
            </a:r>
          </a:p>
          <a:p>
            <a:r>
              <a:t>* Creating a coupon is the only action this software takes that changes your store. Nothing modifies an order, a product or a setting.</a:t>
            </a:r>
          </a:p>
          <a:p>
            <a:r>
              <a:t>PulseCommerce</a:t>
            </a:r>
          </a:p>
          <a:p>
            <a:r>
              <a:t>WhatsApp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WhatsApp · sending safely</a:t>
            </a:r>
          </a:p>
          <a:p>
            <a:r>
              <a:t>How 11,224 messages actually go out</a:t>
            </a:r>
          </a:p>
          <a:p>
            <a:r>
              <a:t>4s</a:t>
            </a:r>
          </a:p>
          <a:p>
            <a:r>
              <a:t>Between messages, with random jitter so sends do not look mechanical</a:t>
            </a:r>
          </a:p>
          <a:p>
            <a:r>
              <a:t>100</a:t>
            </a:r>
          </a:p>
          <a:p>
            <a:r>
              <a:t>Recipients per batch handed to the gateway</a:t>
            </a:r>
          </a:p>
          <a:p>
            <a:r>
              <a:t>Resumable</a:t>
            </a:r>
          </a:p>
          <a:p>
            <a:r>
              <a:t>Closing the page pauses; reopening continues</a:t>
            </a:r>
          </a:p>
          <a:p>
            <a:r>
              <a:t>Automatic</a:t>
            </a:r>
          </a:p>
          <a:p>
            <a:r>
              <a:t>Recovers by itself if the gateway restarts mid-send</a:t>
            </a:r>
          </a:p>
          <a:p>
            <a:r>
              <a:t>Who is excluded, and why</a:t>
            </a:r>
          </a:p>
          <a:p>
            <a:r>
              <a:t>Every dropped recipient is counted and categorised: no phone</a:t>
            </a:r>
          </a:p>
          <a:p>
            <a:r>
              <a:t>number on file, a number that cannot be read, a duplicate shared with</a:t>
            </a:r>
          </a:p>
          <a:p>
            <a:r>
              <a:t>another record, or someone on the opt-out list. "Sent 9,800 of 11,224"</a:t>
            </a:r>
          </a:p>
          <a:p>
            <a:r>
              <a:t>always has an explanation.</a:t>
            </a:r>
          </a:p>
          <a:p>
            <a:r>
              <a:t>Why pacing matters</a:t>
            </a:r>
          </a:p>
          <a:p>
            <a:r>
              <a:t>Sending thousands of messages in minutes is the single most</a:t>
            </a:r>
          </a:p>
          <a:p>
            <a:r>
              <a:t>reliable way to get a WhatsApp number restricted. Deliberate spacing is</a:t>
            </a:r>
          </a:p>
          <a:p>
            <a:r>
              <a:t>what keeps the number usable over months rather than days.</a:t>
            </a:r>
          </a:p>
          <a:p>
            <a:r>
              <a:t>*</a:t>
            </a:r>
          </a:p>
          <a:p>
            <a:r>
              <a:t>* Pacing materially reduces risk but does not eliminate it. See the terms slide.</a:t>
            </a:r>
          </a:p>
          <a:p>
            <a:r>
              <a:t>PulseCommerce</a:t>
            </a:r>
          </a:p>
          <a:p>
            <a:r>
              <a:t>WhatsApp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8 of 13</a:t>
            </a:r>
          </a:p>
          <a:p>
            <a:r>
              <a:t>Product &amp; catalogue analytics</a:t>
            </a:r>
          </a:p>
          <a:p>
            <a:r>
              <a:t>Which products carry the business, which are dead weight, and what sells together?</a:t>
            </a:r>
          </a:p>
          <a:p>
            <a:r>
              <a:t>74</a:t>
            </a:r>
          </a:p>
          <a:p>
            <a:r>
              <a:t>Distinct products sold</a:t>
            </a:r>
          </a:p>
          <a:p>
            <a:r>
              <a:t>10</a:t>
            </a:r>
          </a:p>
          <a:p>
            <a:r>
              <a:t>Class A — the first 80% of revenue</a:t>
            </a:r>
          </a:p>
          <a:p>
            <a:r>
              <a:t>18</a:t>
            </a:r>
          </a:p>
          <a:p>
            <a:r>
              <a:t>Class B — the next 15%</a:t>
            </a:r>
          </a:p>
          <a:p>
            <a:r>
              <a:t>46</a:t>
            </a:r>
          </a:p>
          <a:p>
            <a:r>
              <a:t>Class C — the last 5%</a:t>
            </a:r>
          </a:p>
          <a:p>
            <a:r>
              <a:t>Ten products out of 74 produce four-fifths of your revenue. The other 46 together account for less than a twentieth — worth knowing before deciding what to restock, discount or discontinue.</a:t>
            </a:r>
          </a:p>
          <a:p>
            <a:r>
              <a:t>PulseCommerce</a:t>
            </a:r>
          </a:p>
          <a:p>
            <a:r>
              <a:t>Module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9 of 13</a:t>
            </a:r>
          </a:p>
          <a:p>
            <a:r>
              <a:t>Inventory &amp; restock planning</a:t>
            </a:r>
          </a:p>
          <a:p>
            <a:r>
              <a:t>What runs out next, and what is it worth if it does?</a:t>
            </a:r>
          </a:p>
          <a:p>
            <a:r>
              <a:t>Manjistha Soap</a:t>
            </a:r>
          </a:p>
          <a:p>
            <a:r>
              <a:t>Value</a:t>
            </a:r>
          </a:p>
          <a:p>
            <a:r>
              <a:t>Units sold, twelve months</a:t>
            </a:r>
          </a:p>
          <a:p>
            <a:r>
              <a:t>13,334</a:t>
            </a:r>
          </a:p>
          <a:p>
            <a:r>
              <a:t>Average daily velocity</a:t>
            </a:r>
          </a:p>
          <a:p>
            <a:r>
              <a:t>~37 units</a:t>
            </a:r>
          </a:p>
          <a:p>
            <a:r>
              <a:t>Share of product revenue</a:t>
            </a:r>
          </a:p>
          <a:p>
            <a:r>
              <a:t>33.3%</a:t>
            </a:r>
          </a:p>
          <a:p>
            <a:r>
              <a:t>Revenue exposed per week out of stock</a:t>
            </a:r>
          </a:p>
          <a:p>
            <a:r>
              <a:t>≈ ₹45,000</a:t>
            </a:r>
          </a:p>
          <a:p>
            <a:r>
              <a:t>*</a:t>
            </a:r>
          </a:p>
          <a:p>
            <a:r>
              <a:t>Days of cover, reorder points from your supplier lead time, suggested order quantities, and a CSV shaped as a draft purchase order.</a:t>
            </a:r>
          </a:p>
          <a:p>
            <a:r>
              <a:t>* · Calculated from observed sales velocity over the period. Actual exposure depends on substitution, seasonality and stock levels at the time.</a:t>
            </a:r>
          </a:p>
          <a:p>
            <a:r>
              <a:t>PulseCommerce</a:t>
            </a:r>
          </a:p>
          <a:p>
            <a:r>
              <a:t>Module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10 of 13</a:t>
            </a:r>
          </a:p>
          <a:p>
            <a:r>
              <a:t>Orders &amp; operations</a:t>
            </a:r>
          </a:p>
          <a:p>
            <a:r>
              <a:t>What is happening to orders after they are placed?</a:t>
            </a:r>
          </a:p>
          <a:p>
            <a:r>
              <a:t>18.1%</a:t>
            </a:r>
          </a:p>
          <a:p>
            <a:r>
              <a:t>Orders cancelled — 3,709 of them</a:t>
            </a:r>
          </a:p>
          <a:p>
            <a:r>
              <a:t>15,998</a:t>
            </a:r>
          </a:p>
          <a:p>
            <a:r>
              <a:t>Orders completed</a:t>
            </a:r>
          </a:p>
          <a:p>
            <a:r>
              <a:t>Sunday</a:t>
            </a:r>
          </a:p>
          <a:p>
            <a:r>
              <a:t>Your busiest trading day</a:t>
            </a:r>
          </a:p>
          <a:p>
            <a:r>
              <a:t>3pm</a:t>
            </a:r>
          </a:p>
          <a:p>
            <a:r>
              <a:t>Your busiest hour</a:t>
            </a:r>
          </a:p>
          <a:p>
            <a:r>
              <a:t>The cancellation rate is the finding worth investigating first. Whether it is genuine cancellations or a checkout problem changes what you do about it — and the order register makes the difference visible.</a:t>
            </a:r>
          </a:p>
          <a:p>
            <a:r>
              <a:t>PulseCommerce</a:t>
            </a:r>
          </a:p>
          <a:p>
            <a:r>
              <a:t>Module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11 of 13</a:t>
            </a:r>
          </a:p>
          <a:p>
            <a:r>
              <a:t>Forecasting</a:t>
            </a:r>
          </a:p>
          <a:p>
            <a:r>
              <a:t>What does next month look like, and is the store pacing ahead or behind?</a:t>
            </a:r>
          </a:p>
          <a:p>
            <a:r>
              <a:t>₹6.5L</a:t>
            </a:r>
          </a:p>
          <a:p>
            <a:r>
              <a:t>Recent monthly run rate</a:t>
            </a:r>
          </a:p>
          <a:p>
            <a:r>
              <a:t>95%</a:t>
            </a:r>
          </a:p>
          <a:p>
            <a:r>
              <a:t>Confidence band on the projection</a:t>
            </a:r>
          </a:p>
          <a:p>
            <a:r>
              <a:t>Weekly</a:t>
            </a:r>
          </a:p>
          <a:p>
            <a:r>
              <a:t>Seasonality shown explicitly</a:t>
            </a:r>
          </a:p>
          <a:p>
            <a:r>
              <a:t>30 days</a:t>
            </a:r>
          </a:p>
          <a:p>
            <a:r>
              <a:t>Default forecast horizon</a:t>
            </a:r>
          </a:p>
          <a:p>
            <a:r>
              <a:t>A least-squares trend multiplied by day-of-week seasonality. It answers whether you are pacing ahead of or behind your own recent trend. It knows nothing about planned promotions or stock-outs, and says so.</a:t>
            </a:r>
          </a:p>
          <a:p>
            <a:r>
              <a:t>* · Forecasts are statistical projections from historic data, not commitments. They exclude planned campaigns, stock availability and seasonality outside the period analysed.</a:t>
            </a:r>
          </a:p>
          <a:p>
            <a:r>
              <a:t>PulseCommerce</a:t>
            </a:r>
          </a:p>
          <a:p>
            <a:r>
              <a:t>Module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12 of 13</a:t>
            </a:r>
          </a:p>
          <a:p>
            <a:r>
              <a:t>Geography</a:t>
            </a:r>
          </a:p>
          <a:p>
            <a:r>
              <a:t>Where is the revenue, and where is the next market?</a:t>
            </a:r>
          </a:p>
          <a:p>
            <a:r>
              <a:t>Location</a:t>
            </a:r>
          </a:p>
          <a:p>
            <a:r>
              <a:t>Net revenue</a:t>
            </a:r>
          </a:p>
          <a:p>
            <a:r>
              <a:t>Share</a:t>
            </a:r>
          </a:p>
          <a:p>
            <a:r>
              <a:t>Tamil Nadu</a:t>
            </a:r>
          </a:p>
          <a:p>
            <a:r>
              <a:t>₹61.3L</a:t>
            </a:r>
          </a:p>
          <a:p>
            <a:r>
              <a:t>86.5%</a:t>
            </a:r>
          </a:p>
          <a:p>
            <a:r>
              <a:t>Chennai alone</a:t>
            </a:r>
          </a:p>
          <a:p>
            <a:r>
              <a:t>₹19.1L</a:t>
            </a:r>
          </a:p>
          <a:p>
            <a:r>
              <a:t>27.0%</a:t>
            </a:r>
          </a:p>
          <a:p>
            <a:r>
              <a:t>Karnataka</a:t>
            </a:r>
          </a:p>
          <a:p>
            <a:r>
              <a:t>₹5.1L</a:t>
            </a:r>
          </a:p>
          <a:p>
            <a:r>
              <a:t>7.2%</a:t>
            </a:r>
          </a:p>
          <a:p>
            <a:r>
              <a:t>Puducherry</a:t>
            </a:r>
          </a:p>
          <a:p>
            <a:r>
              <a:t>₹1.4L</a:t>
            </a:r>
          </a:p>
          <a:p>
            <a:r>
              <a:t>1.9%</a:t>
            </a:r>
          </a:p>
          <a:p>
            <a:r>
              <a:t>Karnataka is already buying ₹5.1L a year without being targeted. That makes it the cheapest market to test a campaign in, and the clearest expansion signal in the data.</a:t>
            </a:r>
          </a:p>
          <a:p>
            <a:r>
              <a:t>PulseCommerce</a:t>
            </a:r>
          </a:p>
          <a:p>
            <a:r>
              <a:t>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13 of 13</a:t>
            </a:r>
          </a:p>
          <a:p>
            <a:r>
              <a:t>Reports &amp; exports</a:t>
            </a:r>
          </a:p>
          <a:p>
            <a:r>
              <a:t>Take any of it out, in the format the person asking for it uses.</a:t>
            </a:r>
          </a:p>
          <a:p>
            <a:r>
              <a:t>10</a:t>
            </a:r>
          </a:p>
          <a:p>
            <a:r>
              <a:t>Report types</a:t>
            </a:r>
          </a:p>
          <a:p>
            <a:r>
              <a:t>Excel</a:t>
            </a:r>
          </a:p>
          <a:p>
            <a:r>
              <a:t>Formatted sheets with filters</a:t>
            </a:r>
          </a:p>
          <a:p>
            <a:r>
              <a:t>PDF</a:t>
            </a:r>
          </a:p>
          <a:p>
            <a:r>
              <a:t>Board-ready with a cover</a:t>
            </a:r>
          </a:p>
          <a:p>
            <a:r>
              <a:t>CSV</a:t>
            </a:r>
          </a:p>
          <a:p>
            <a:r>
              <a:t>For spreadsheets and pipelines</a:t>
            </a:r>
          </a:p>
          <a:p>
            <a:r>
              <a:t>Executive summary, customer ledger, segmentation, products, categories, order register, cohorts, geography, operations and forecast — with presets for a board pack, a CRM upload, a merchandising review or a finance reconciliation.</a:t>
            </a:r>
          </a:p>
          <a:p>
            <a:r>
              <a:t>PulseCommerce</a:t>
            </a:r>
          </a:p>
          <a:p>
            <a:r>
              <a:t>Module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How the three pieces connect</a:t>
            </a:r>
          </a:p>
          <a:p>
            <a:r>
              <a:t>Yours</a:t>
            </a:r>
          </a:p>
          <a:p>
            <a:r>
              <a:t>WooCommerce store</a:t>
            </a:r>
          </a:p>
          <a:p>
            <a:r>
              <a:t>Orders, products, customers and coupons, over the official REST API</a:t>
            </a:r>
          </a:p>
          <a:p>
            <a:r>
              <a:t>→</a:t>
            </a:r>
          </a:p>
          <a:p>
            <a:r>
              <a:t>read</a:t>
            </a:r>
          </a:p>
          <a:p>
            <a:r>
              <a:t>The platform</a:t>
            </a:r>
          </a:p>
          <a:p>
            <a:r>
              <a:t>PulseCommerce</a:t>
            </a:r>
          </a:p>
          <a:p>
            <a:r>
              <a:t>Pulls once, caches, computes every metric from that cache</a:t>
            </a:r>
          </a:p>
          <a:p>
            <a:r>
              <a:t>send</a:t>
            </a:r>
          </a:p>
          <a:p>
            <a:r>
              <a:t>WhatsApp gateway</a:t>
            </a:r>
          </a:p>
          <a:p>
            <a:r>
              <a:t>Holds the WhatsApp connection on your own server</a:t>
            </a:r>
          </a:p>
          <a:p>
            <a:r>
              <a:t>One pull, then everything</a:t>
            </a:r>
          </a:p>
          <a:p>
            <a:r>
              <a:t>Cohorts and lifetime value need the whole order history. It is fetched</a:t>
            </a:r>
          </a:p>
          <a:p>
            <a:r>
              <a:t>once and cached, so changing a date range is instant rather than another</a:t>
            </a:r>
          </a:p>
          <a:p>
            <a:r>
              <a:t>wait on your store.</a:t>
            </a:r>
          </a:p>
          <a:p>
            <a:r>
              <a:t>Your storefront is never in the path</a:t>
            </a:r>
          </a:p>
          <a:p>
            <a:r>
              <a:t>Analysis runs against the cached copy. No customer ever waits on a</a:t>
            </a:r>
          </a:p>
          <a:p>
            <a:r>
              <a:t>query the business is running.</a:t>
            </a:r>
          </a:p>
          <a:p>
            <a:r>
              <a:t>Numbers stay on the server</a:t>
            </a:r>
          </a:p>
          <a:p>
            <a:r>
              <a:t>The browser receives names and counts. Phone numbers are resolved only</a:t>
            </a:r>
          </a:p>
          <a:p>
            <a:r>
              <a:t>at the moment a message is sent.</a:t>
            </a:r>
          </a:p>
          <a:p>
            <a:r>
              <a:t>Store access is read-only, with one exception: creating the discount coupons you ask for. Nothing modifies an order, a product or a store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for daily use</a:t>
            </a:r>
          </a:p>
          <a:p>
            <a:r>
              <a:t>Keyboard-first, for people who live in it</a:t>
            </a:r>
          </a:p>
          <a:p>
            <a:r>
              <a:t>Every screen is one or two keystrokes away. Shortcuts are</a:t>
            </a:r>
          </a:p>
          <a:p>
            <a:r>
              <a:t>ignored while you are typing, so they never eat a search query.</a:t>
            </a:r>
          </a:p>
          <a:p>
            <a:r>
              <a:t>Search &amp; actions</a:t>
            </a:r>
          </a:p>
          <a:p>
            <a:r>
              <a:t>⌘</a:t>
            </a:r>
          </a:p>
          <a:p>
            <a:r>
              <a:t>K</a:t>
            </a:r>
          </a:p>
          <a:p>
            <a:r>
              <a:t>Search everything</a:t>
            </a:r>
          </a:p>
          <a:p>
            <a:r>
              <a:t>/</a:t>
            </a:r>
          </a:p>
          <a:p>
            <a:r>
              <a:t>Jump to search</a:t>
            </a:r>
          </a:p>
          <a:p>
            <a:r>
              <a:t>?</a:t>
            </a:r>
          </a:p>
          <a:p>
            <a:r>
              <a:t>Show all shortcuts</a:t>
            </a:r>
          </a:p>
          <a:p>
            <a:r>
              <a:t>⇧</a:t>
            </a:r>
          </a:p>
          <a:p>
            <a:r>
              <a:t>R</a:t>
            </a:r>
          </a:p>
          <a:p>
            <a:r>
              <a:t>Re-sync store</a:t>
            </a:r>
          </a:p>
          <a:p>
            <a:r>
              <a:t>L</a:t>
            </a:r>
          </a:p>
          <a:p>
            <a:r>
              <a:t>Light / dark</a:t>
            </a:r>
          </a:p>
          <a:p>
            <a:r>
              <a:t>Go to — press</a:t>
            </a:r>
          </a:p>
          <a:p>
            <a:r>
              <a:t>g</a:t>
            </a:r>
          </a:p>
          <a:p>
            <a:r>
              <a:t>then</a:t>
            </a:r>
          </a:p>
          <a:p>
            <a:r>
              <a:t>d</a:t>
            </a:r>
          </a:p>
          <a:p>
            <a:r>
              <a:t>Dashboard</a:t>
            </a:r>
          </a:p>
          <a:p>
            <a:r>
              <a:t>c</a:t>
            </a:r>
          </a:p>
          <a:p>
            <a:r>
              <a:t>Customers</a:t>
            </a:r>
          </a:p>
          <a:p>
            <a:r>
              <a:t>a</a:t>
            </a:r>
          </a:p>
          <a:p>
            <a:r>
              <a:t>Acquisition</a:t>
            </a:r>
          </a:p>
          <a:p>
            <a:r>
              <a:t>h</a:t>
            </a:r>
          </a:p>
          <a:p>
            <a:r>
              <a:t>Cohorts</a:t>
            </a:r>
          </a:p>
          <a:p>
            <a:r>
              <a:t>p</a:t>
            </a:r>
          </a:p>
          <a:p>
            <a:r>
              <a:t>Products</a:t>
            </a:r>
          </a:p>
          <a:p>
            <a:r>
              <a:t>i</a:t>
            </a:r>
          </a:p>
          <a:p>
            <a:r>
              <a:t>Inventory</a:t>
            </a:r>
          </a:p>
          <a:p>
            <a:r>
              <a:t>o</a:t>
            </a:r>
          </a:p>
          <a:p>
            <a:r>
              <a:t>Orders</a:t>
            </a:r>
          </a:p>
          <a:p>
            <a:r>
              <a:t>m</a:t>
            </a:r>
          </a:p>
          <a:p>
            <a:r>
              <a:t>Campaigns</a:t>
            </a:r>
          </a:p>
          <a:p>
            <a:r>
              <a:t>w</a:t>
            </a:r>
          </a:p>
          <a:p>
            <a:r>
              <a:t>WhatsApp inbox</a:t>
            </a:r>
          </a:p>
          <a:p>
            <a:r>
              <a:t>f</a:t>
            </a:r>
          </a:p>
          <a:p>
            <a:r>
              <a:t>Forecast</a:t>
            </a:r>
          </a:p>
          <a:p>
            <a:r>
              <a:t>r</a:t>
            </a:r>
          </a:p>
          <a:p>
            <a:r>
              <a:t>Reports</a:t>
            </a:r>
          </a:p>
          <a:p>
            <a:r>
              <a:t>s</a:t>
            </a:r>
          </a:p>
          <a:p>
            <a:r>
              <a:t>Settings</a:t>
            </a:r>
          </a:p>
          <a:p>
            <a:r>
              <a:t>The command palette searches customers, products and orders together —</a:t>
            </a:r>
          </a:p>
          <a:p>
            <a:r>
              <a:t>type a name, a phone number or an order number and go straight there.</a:t>
            </a:r>
          </a:p>
          <a:p>
            <a:r>
              <a:t>PulseCommerce</a:t>
            </a:r>
          </a:p>
          <a:p>
            <a:r>
              <a:t>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anything is sent</a:t>
            </a:r>
          </a:p>
          <a:p>
            <a:r>
              <a:t>Four gates between you and 11,224 people</a:t>
            </a:r>
          </a:p>
          <a:p>
            <a:r>
              <a:t>* · Dry run</a:t>
            </a:r>
          </a:p>
          <a:p>
            <a:r>
              <a:t>Resolves the real recipient list and sends nothing. Shows who was excluded and why, plus the message as the first recipient would read it.</a:t>
            </a:r>
          </a:p>
          <a:p>
            <a:r>
              <a:t>** · Test send</a:t>
            </a:r>
          </a:p>
          <a:p>
            <a:r>
              <a:t>One message to a number you type by hand. It cannot reach a customer.</a:t>
            </a:r>
          </a:p>
          <a:p>
            <a:r>
              <a:t>*** · Typed confirmation</a:t>
            </a:r>
          </a:p>
          <a:p>
            <a:r>
              <a:t>You type the exact recipient count. The audience is recalculated and the send refused if it changed.</a:t>
            </a:r>
          </a:p>
          <a:p>
            <a:r>
              <a:t>**** · Opt-out list</a:t>
            </a:r>
          </a:p>
          <a:p>
            <a:r>
              <a:t>Applied on the server after the audience is built, so no filtering mistake can route around it.</a:t>
            </a:r>
          </a:p>
          <a:p>
            <a:r>
              <a:t>Duplicate numbers across records are collapsed so a household is messaged</a:t>
            </a:r>
          </a:p>
          <a:p>
            <a:r>
              <a:t>once, and every excluded recipient is counted and categorised — so</a:t>
            </a:r>
          </a:p>
          <a:p>
            <a:r>
              <a:t>"sent 9,800 of 11,224" always has an explanation.</a:t>
            </a:r>
          </a:p>
          <a:p>
            <a:r>
              <a:t>PulseCommerce</a:t>
            </a:r>
          </a:p>
          <a:p>
            <a:r>
              <a:t>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PulseCommerce</a:t>
            </a:r>
          </a:p>
          <a:p>
            <a:r>
              <a:t>What the tools you already have cannot do</a:t>
            </a:r>
          </a:p>
          <a:p>
            <a:r>
              <a:t>Capability</a:t>
            </a:r>
          </a:p>
          <a:p>
            <a:r>
              <a:t>PulseCommerce</a:t>
            </a:r>
          </a:p>
          <a:p>
            <a:r>
              <a:t>WooCommerce Analytics</a:t>
            </a:r>
          </a:p>
          <a:p>
            <a:r>
              <a:t>Google Analytics</a:t>
            </a:r>
          </a:p>
          <a:p>
            <a:r>
              <a:t>Customer segmentation</a:t>
            </a:r>
          </a:p>
          <a:p>
            <a:r>
              <a:t>✓</a:t>
            </a:r>
          </a:p>
          <a:p>
            <a:r>
              <a:t>✕</a:t>
            </a:r>
          </a:p>
          <a:p>
            <a:r>
              <a:t>RFM analysis</a:t>
            </a:r>
          </a:p>
          <a:p>
            <a:r>
              <a:t>Customer lifetime value</a:t>
            </a:r>
          </a:p>
          <a:p>
            <a:r>
              <a:t>Churn prediction</a:t>
            </a:r>
          </a:p>
          <a:p>
            <a:r>
              <a:t>Inventory analytics</a:t>
            </a:r>
          </a:p>
          <a:p>
            <a:r>
              <a:t>Basic</a:t>
            </a:r>
          </a:p>
          <a:p>
            <a:r>
              <a:t>WhatsApp campaigns</a:t>
            </a:r>
          </a:p>
          <a:p>
            <a:r>
              <a:t>Customer profiles</a:t>
            </a:r>
          </a:p>
          <a:p>
            <a:r>
              <a:t>Forecasting</a:t>
            </a:r>
          </a:p>
          <a:p>
            <a:r>
              <a:t>Self-hosted option</a:t>
            </a:r>
          </a:p>
          <a:p>
            <a:r>
              <a:t>One-time purchase</a:t>
            </a:r>
          </a:p>
          <a:p>
            <a:r>
              <a:t>* Based on the standard published feature sets of each product at the time of writing. Third-party offerings change; verify before relying on any comparison.</a:t>
            </a:r>
          </a:p>
          <a:p>
            <a:r>
              <a:t>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PulseCommerce</a:t>
            </a:r>
          </a:p>
          <a:p>
            <a:r>
              <a:t>Against the WhatsApp platforms</a:t>
            </a:r>
          </a:p>
          <a:p>
            <a:r>
              <a:t>Capability</a:t>
            </a:r>
          </a:p>
          <a:p>
            <a:r>
              <a:t>PulseCommerce</a:t>
            </a:r>
          </a:p>
          <a:p>
            <a:r>
              <a:t>AiSensy</a:t>
            </a:r>
          </a:p>
          <a:p>
            <a:r>
              <a:t>WATI</a:t>
            </a:r>
          </a:p>
          <a:p>
            <a:r>
              <a:t>WooCommerce Reports</a:t>
            </a:r>
          </a:p>
          <a:p>
            <a:r>
              <a:t>Customer analytics</a:t>
            </a:r>
          </a:p>
          <a:p>
            <a:r>
              <a:t>✓</a:t>
            </a:r>
          </a:p>
          <a:p>
            <a:r>
              <a:t>✕</a:t>
            </a:r>
          </a:p>
          <a:p>
            <a:r>
              <a:t>Basic</a:t>
            </a:r>
          </a:p>
          <a:p>
            <a:r>
              <a:t>RFM segmentation</a:t>
            </a:r>
          </a:p>
          <a:p>
            <a:r>
              <a:t>Churn prediction</a:t>
            </a:r>
          </a:p>
          <a:p>
            <a:r>
              <a:t>Inventory analytics</a:t>
            </a:r>
          </a:p>
          <a:p>
            <a:r>
              <a:t>WhatsApp campaigns</a:t>
            </a:r>
          </a:p>
          <a:p>
            <a:r>
              <a:t>Shared inbox</a:t>
            </a:r>
          </a:p>
          <a:p>
            <a:r>
              <a:t>Forecasting</a:t>
            </a:r>
          </a:p>
          <a:p>
            <a:r>
              <a:t>Customer lifetime value</a:t>
            </a:r>
          </a:p>
          <a:p>
            <a:r>
              <a:t>Self-hosted option</a:t>
            </a:r>
          </a:p>
          <a:p>
            <a:r>
              <a:t>The messaging platforms send well and know nothing about your customers.</a:t>
            </a:r>
          </a:p>
          <a:p>
            <a:r>
              <a:t>The analytics tools know your customers and cannot message them. This does</a:t>
            </a:r>
          </a:p>
          <a:p>
            <a:r>
              <a:t>both, which is the whole point — an audience defined by churn risk can be</a:t>
            </a:r>
          </a:p>
          <a:p>
            <a:r>
              <a:t>messaged without ever leaving the screen.</a:t>
            </a:r>
          </a:p>
          <a:p>
            <a:r>
              <a:t>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market charges</a:t>
            </a:r>
          </a:p>
          <a:p>
            <a:r>
              <a:t>Every platform bills monthly, then Meta bills again</a:t>
            </a:r>
          </a:p>
          <a:p>
            <a:r>
              <a:t>Platform</a:t>
            </a:r>
          </a:p>
          <a:p>
            <a:r>
              <a:t>Starting price</a:t>
            </a:r>
          </a:p>
          <a:p>
            <a:r>
              <a:t>On top of that</a:t>
            </a:r>
          </a:p>
          <a:p>
            <a:r>
              <a:t>AiSensy</a:t>
            </a:r>
          </a:p>
          <a:p>
            <a:r>
              <a:t>₹1,500 / month</a:t>
            </a:r>
          </a:p>
          <a:p>
            <a:r>
              <a:t>Meta message charges</a:t>
            </a:r>
          </a:p>
          <a:p>
            <a:r>
              <a:t>Gallabox</a:t>
            </a:r>
          </a:p>
          <a:p>
            <a:r>
              <a:t>≈ ₹2,399 / month</a:t>
            </a:r>
          </a:p>
          <a:p>
            <a:r>
              <a:t>Interakt</a:t>
            </a:r>
          </a:p>
          <a:p>
            <a:r>
              <a:t>≈ ₹2,799 / month</a:t>
            </a:r>
          </a:p>
          <a:p>
            <a:r>
              <a:t>WATI</a:t>
            </a:r>
          </a:p>
          <a:p>
            <a:r>
              <a:t>≈ $39 / month (₹3,300+)</a:t>
            </a:r>
          </a:p>
          <a:p>
            <a:r>
              <a:t>Gupshup</a:t>
            </a:r>
          </a:p>
          <a:p>
            <a:r>
              <a:t>Custom pricing</a:t>
            </a:r>
          </a:p>
          <a:p>
            <a:r>
              <a:t>PulseCommerce, self-hosted</a:t>
            </a:r>
          </a:p>
          <a:p>
            <a:r>
              <a:t>₹0 / month</a:t>
            </a:r>
          </a:p>
          <a:p>
            <a:r>
              <a:t>Server hosting only, ≈ ₹500</a:t>
            </a:r>
          </a:p>
          <a:p>
            <a:r>
              <a:t>Every one of these is a subscription you keep paying, and none of it covers</a:t>
            </a:r>
          </a:p>
          <a:p>
            <a:r>
              <a:t>what Meta charges per conversation. A self-hosted gateway removes both the</a:t>
            </a:r>
          </a:p>
          <a:p>
            <a:r>
              <a:t>subscription and the per-message fee, leaving a server bill.</a:t>
            </a:r>
          </a:p>
          <a:p>
            <a:r>
              <a:t>* Publicly listed starting prices at the time of writing, converted where necessary. Prices, plans and inclusions change; confirm with each vendor.</a:t>
            </a:r>
          </a:p>
          <a:p>
            <a:r>
              <a:t>PulseCommerce</a:t>
            </a:r>
          </a:p>
          <a:p>
            <a:r>
              <a:t>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years, your numbers</a:t>
            </a:r>
          </a:p>
          <a:p>
            <a:r>
              <a:t>What each route actually costs</a:t>
            </a:r>
          </a:p>
          <a:p>
            <a:r>
              <a:t>One campaign a month to your 11,224 customers, with Meta charging</a:t>
            </a:r>
          </a:p>
          <a:p>
            <a:r>
              <a:t>approximately ₹10,000 a month for them.</a:t>
            </a:r>
          </a:p>
          <a:p>
            <a:r>
              <a:t>*</a:t>
            </a:r>
          </a:p>
          <a:p>
            <a:r>
              <a:t>Route</a:t>
            </a:r>
          </a:p>
          <a:p>
            <a:r>
              <a:t>Subscription</a:t>
            </a:r>
          </a:p>
          <a:p>
            <a:r>
              <a:t>Meta charges</a:t>
            </a:r>
          </a:p>
          <a:p>
            <a:r>
              <a:t>Three-year total</a:t>
            </a:r>
          </a:p>
          <a:p>
            <a:r>
              <a:t>AiSensy</a:t>
            </a:r>
          </a:p>
          <a:p>
            <a:r>
              <a:t>₹54,000</a:t>
            </a:r>
          </a:p>
          <a:p>
            <a:r>
              <a:t>₹3,60,000</a:t>
            </a:r>
          </a:p>
          <a:p>
            <a:r>
              <a:t>₹4,14,000</a:t>
            </a:r>
          </a:p>
          <a:p>
            <a:r>
              <a:t>Gallabox</a:t>
            </a:r>
          </a:p>
          <a:p>
            <a:r>
              <a:t>₹86,364</a:t>
            </a:r>
          </a:p>
          <a:p>
            <a:r>
              <a:t>₹4,46,364</a:t>
            </a:r>
          </a:p>
          <a:p>
            <a:r>
              <a:t>Interakt</a:t>
            </a:r>
          </a:p>
          <a:p>
            <a:r>
              <a:t>₹1,00,764</a:t>
            </a:r>
          </a:p>
          <a:p>
            <a:r>
              <a:t>₹4,60,764</a:t>
            </a:r>
          </a:p>
          <a:p>
            <a:r>
              <a:t>WATI</a:t>
            </a:r>
          </a:p>
          <a:p>
            <a:r>
              <a:t>₹1,18,800</a:t>
            </a:r>
          </a:p>
          <a:p>
            <a:r>
              <a:t>₹4,78,800</a:t>
            </a:r>
          </a:p>
          <a:p>
            <a:r>
              <a:t>PulseCommerce + Cloud API</a:t>
            </a:r>
          </a:p>
          <a:p>
            <a:r>
              <a:t>₹25,000 once</a:t>
            </a:r>
          </a:p>
          <a:p>
            <a:r>
              <a:t>₹3,85,000</a:t>
            </a:r>
          </a:p>
          <a:p>
            <a:r>
              <a:t>PulseCommerce + private gateway</a:t>
            </a:r>
          </a:p>
          <a:p>
            <a:r>
              <a:t>₹35,000 once</a:t>
            </a:r>
          </a:p>
          <a:p>
            <a:r>
              <a:t>₹0</a:t>
            </a:r>
          </a:p>
          <a:p>
            <a:r>
              <a:t>₹53,000</a:t>
            </a:r>
          </a:p>
          <a:p>
            <a:r>
              <a:t>Against the cheapest subscription platform, the private gateway saves</a:t>
            </a:r>
          </a:p>
          <a:p>
            <a:r>
              <a:t>₹3,61,000 over three years</a:t>
            </a:r>
          </a:p>
          <a:p>
            <a:r>
              <a:t>— more than ten times what the build costs.</a:t>
            </a:r>
          </a:p>
          <a:p>
            <a:r>
              <a:t>The saving is almost entirely the per-message fee that disappears.</a:t>
            </a:r>
          </a:p>
          <a:p>
            <a:r>
              <a:t>* Meta's rates vary by country and category and change without notice. Volume assumption is illustrative. See the terms slides.</a:t>
            </a:r>
          </a:p>
          <a:p>
            <a:r>
              <a:t>PulseCommerce</a:t>
            </a:r>
          </a:p>
          <a:p>
            <a:r>
              <a:t>Three years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comparison</a:t>
            </a:r>
          </a:p>
          <a:p>
            <a:r>
              <a:t>Two ways to send WhatsApp</a:t>
            </a:r>
          </a:p>
          <a:p>
            <a:r>
              <a:t>Official WhatsApp Cloud API</a:t>
            </a:r>
          </a:p>
          <a:p>
            <a:r>
              <a:t>PulseCommerce, self-hosted</a:t>
            </a:r>
          </a:p>
          <a:p>
            <a:r>
              <a:t>Cost per message</a:t>
            </a:r>
          </a:p>
          <a:p>
            <a:r>
              <a:t>Billed per conversation, in INR</a:t>
            </a:r>
          </a:p>
          <a:p>
            <a:r>
              <a:t>Zero</a:t>
            </a:r>
          </a:p>
          <a:p>
            <a:r>
              <a:t>Marketing messages</a:t>
            </a:r>
          </a:p>
          <a:p>
            <a:r>
              <a:t>Charged at the marketing rate</a:t>
            </a:r>
          </a:p>
          <a:p>
            <a:r>
              <a:t>No charge</a:t>
            </a:r>
          </a:p>
          <a:p>
            <a:r>
              <a:t>Message templates</a:t>
            </a:r>
          </a:p>
          <a:p>
            <a:r>
              <a:t>Pre-approval required by Meta</a:t>
            </a:r>
          </a:p>
          <a:p>
            <a:r>
              <a:t>Write and send immediately</a:t>
            </a:r>
          </a:p>
          <a:p>
            <a:r>
              <a:t>Setup</a:t>
            </a:r>
          </a:p>
          <a:p>
            <a:r>
              <a:t>Meta Business verification</a:t>
            </a:r>
          </a:p>
          <a:p>
            <a:r>
              <a:t>Scan a QR code</a:t>
            </a:r>
          </a:p>
          <a:p>
            <a:r>
              <a:t>Running cost</a:t>
            </a:r>
          </a:p>
          <a:p>
            <a:r>
              <a:t>Per conversation, forever</a:t>
            </a:r>
          </a:p>
          <a:p>
            <a:r>
              <a:t>A small server, roughly ₹500/month</a:t>
            </a:r>
          </a:p>
          <a:p>
            <a:r>
              <a:t>Tappable buttons</a:t>
            </a:r>
          </a:p>
          <a:p>
            <a:r>
              <a:t>Yes</a:t>
            </a:r>
          </a:p>
          <a:p>
            <a:r>
              <a:t>No — link previews instead</a:t>
            </a:r>
          </a:p>
          <a:p>
            <a:r>
              <a:t>Delivery guarantee</a:t>
            </a:r>
          </a:p>
          <a:p>
            <a:r>
              <a:t>Official, guaranteed</a:t>
            </a:r>
          </a:p>
          <a:p>
            <a:r>
              <a:t>Unofficial; use a dedicated number</a:t>
            </a:r>
          </a:p>
          <a:p>
            <a:r>
              <a:t>Meta's per-conversation rates change by country and category and should be</a:t>
            </a:r>
          </a:p>
          <a:p>
            <a:r>
              <a:t>confirmed against their current published pricing before you commit. The</a:t>
            </a:r>
          </a:p>
          <a:p>
            <a:r>
              <a:t>structural difference does not change: one bills per message, the other does</a:t>
            </a:r>
          </a:p>
          <a:p>
            <a:r>
              <a:t>not.</a:t>
            </a:r>
          </a:p>
          <a:p>
            <a:r>
              <a:t>* · Meta's per-conversation rates vary by country and message category and change over time; confirm against their current published pricing. ** · Hosting is an estimate, billed by your provider, not by Setups Works.</a:t>
            </a:r>
          </a:p>
          <a:p>
            <a:r>
              <a:t>PulseCommerce</a:t>
            </a:r>
          </a:p>
          <a:p>
            <a:r>
              <a:t>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at your scale</a:t>
            </a:r>
          </a:p>
          <a:p>
            <a:r>
              <a:t>One campaign to your customer base</a:t>
            </a:r>
          </a:p>
          <a:p>
            <a:r>
              <a:t>11,224 customers. Because the exact Meta rate varies, here is the cost across</a:t>
            </a:r>
          </a:p>
          <a:p>
            <a:r>
              <a:t>the plausible range — and what it becomes at one campaign a month.</a:t>
            </a:r>
          </a:p>
          <a:p>
            <a:r>
              <a:t>If a marketing conversation costs</a:t>
            </a:r>
          </a:p>
          <a:p>
            <a:r>
              <a:t>*</a:t>
            </a:r>
          </a:p>
          <a:p>
            <a:r>
              <a:t>One campaign</a:t>
            </a:r>
          </a:p>
          <a:p>
            <a:r>
              <a:t>Monthly, for a year</a:t>
            </a:r>
          </a:p>
          <a:p>
            <a:r>
              <a:t>PulseCommerce</a:t>
            </a:r>
          </a:p>
          <a:p>
            <a:r>
              <a:t>₹0.50</a:t>
            </a:r>
          </a:p>
          <a:p>
            <a:r>
              <a:t>₹5,612</a:t>
            </a:r>
          </a:p>
          <a:p>
            <a:r>
              <a:t>₹67,344</a:t>
            </a:r>
          </a:p>
          <a:p>
            <a:r>
              <a:t>₹0</a:t>
            </a:r>
          </a:p>
          <a:p>
            <a:r>
              <a:t>₹0.75</a:t>
            </a:r>
          </a:p>
          <a:p>
            <a:r>
              <a:t>₹8,418</a:t>
            </a:r>
          </a:p>
          <a:p>
            <a:r>
              <a:t>₹1,01,016</a:t>
            </a:r>
          </a:p>
          <a:p>
            <a:r>
              <a:t>₹1.00</a:t>
            </a:r>
          </a:p>
          <a:p>
            <a:r>
              <a:t>₹11,224</a:t>
            </a:r>
          </a:p>
          <a:p>
            <a:r>
              <a:t>₹1,34,688</a:t>
            </a:r>
          </a:p>
          <a:p>
            <a:r>
              <a:t>4 campaigns</a:t>
            </a:r>
          </a:p>
          <a:p>
            <a:r>
              <a:t>Break-even on the ₹35,000 private gateway, at the middle rate</a:t>
            </a:r>
          </a:p>
          <a:p>
            <a:r>
              <a:t>₹60,016</a:t>
            </a:r>
          </a:p>
          <a:p>
            <a:r>
              <a:t>Saved in year one at one campaign a month, after the build and hosting</a:t>
            </a:r>
          </a:p>
          <a:p>
            <a:r>
              <a:t>Meta charges avoided on every single campaign</a:t>
            </a:r>
          </a:p>
          <a:p>
            <a:r>
              <a:t>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</a:t>
            </a:r>
          </a:p>
          <a:p>
            <a:r>
              <a:t>Built for a store your size</a:t>
            </a:r>
          </a:p>
          <a:p>
            <a:r>
              <a:t>Measured against your live store, not a test fixture.</a:t>
            </a:r>
          </a:p>
          <a:p>
            <a:r>
              <a:t>20,444</a:t>
            </a:r>
          </a:p>
          <a:p>
            <a:r>
              <a:t>Orders analysed</a:t>
            </a:r>
          </a:p>
          <a:p>
            <a:r>
              <a:t>11,224</a:t>
            </a:r>
          </a:p>
          <a:p>
            <a:r>
              <a:t>Customers scored</a:t>
            </a:r>
          </a:p>
          <a:p>
            <a:r>
              <a:t>0.7s</a:t>
            </a:r>
          </a:p>
          <a:p>
            <a:r>
              <a:t>Typical page load</a:t>
            </a:r>
          </a:p>
          <a:p>
            <a:r>
              <a:t>81%</a:t>
            </a:r>
          </a:p>
          <a:p>
            <a:r>
              <a:t>Data transfer removed by trimming what is never read</a:t>
            </a:r>
          </a:p>
          <a:p>
            <a:r>
              <a:t>Why it is fast</a:t>
            </a:r>
          </a:p>
          <a:p>
            <a:r>
              <a:t>Your entire order history is pulled once and cached. Every</a:t>
            </a:r>
          </a:p>
          <a:p>
            <a:r>
              <a:t>metric is computed from that cache, so changing a date range costs</a:t>
            </a:r>
          </a:p>
          <a:p>
            <a:r>
              <a:t>milliseconds instead of another wait on your store.</a:t>
            </a:r>
          </a:p>
          <a:p>
            <a:r>
              <a:t>Why your store stays fast</a:t>
            </a:r>
          </a:p>
          <a:p>
            <a:r>
              <a:t>Analysis never touches the database serving your</a:t>
            </a:r>
          </a:p>
          <a:p>
            <a:r>
              <a:t>storefront. Pulls are paced and retried, so a sync reads as ordinary</a:t>
            </a:r>
          </a:p>
          <a:p>
            <a:r>
              <a:t>traffic rather than a spike.</a:t>
            </a:r>
          </a:p>
          <a:p>
            <a:r>
              <a:t>PulseCommerce</a:t>
            </a:r>
          </a:p>
          <a:p>
            <a:r>
              <a:t>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Included</a:t>
            </a:r>
          </a:p>
          <a:p>
            <a:r>
              <a:t>What you receive</a:t>
            </a:r>
          </a:p>
          <a:p>
            <a:r>
              <a:t>The platform</a:t>
            </a:r>
          </a:p>
          <a:p>
            <a:r>
              <a:t>, all thirteen modules, deployed and verified against your live store.</a:t>
            </a:r>
          </a:p>
          <a:p>
            <a:r>
              <a:t>The source code</a:t>
            </a:r>
          </a:p>
          <a:p>
            <a:r>
              <a:t>, in a repository Nature's Joy owns outright.</a:t>
            </a:r>
          </a:p>
          <a:p>
            <a:r>
              <a:t>WhatsApp gateway</a:t>
            </a:r>
          </a:p>
          <a:p>
            <a:r>
              <a:t>installed and connected on your server.</a:t>
            </a:r>
          </a:p>
          <a:p>
            <a:r>
              <a:t>Documentation</a:t>
            </a:r>
          </a:p>
          <a:p>
            <a:r>
              <a:t>covering setup, configuration, architecture and troubleshooting.</a:t>
            </a:r>
          </a:p>
          <a:p>
            <a:r>
              <a:t>Metric definitions in writing</a:t>
            </a:r>
          </a:p>
          <a:p>
            <a:r>
              <a:t>, so every figure can be reconciled against WooCommerce rather than taken on trust.</a:t>
            </a:r>
          </a:p>
          <a:p>
            <a:r>
              <a:t>Handover session</a:t>
            </a:r>
          </a:p>
          <a:p>
            <a:r>
              <a:t>covering day-to-day use and how to read each module.</a:t>
            </a:r>
          </a:p>
          <a:p>
            <a:r>
              <a:t>Not included</a:t>
            </a:r>
          </a:p>
          <a:p>
            <a:r>
              <a:t>Stated plainly so there are no surprises later.</a:t>
            </a:r>
          </a:p>
          <a:p>
            <a:r>
              <a:t>Server hosting for the WhatsApp gateway, roughly ₹500 per month, billed</a:t>
            </a:r>
          </a:p>
          <a:p>
            <a:r>
              <a:t>by your provider. Setups Works can manage it, quoted separately.</a:t>
            </a:r>
          </a:p>
          <a:p>
            <a:r>
              <a:t>A dedicated phone number for WhatsApp sending, which should not be the</a:t>
            </a:r>
          </a:p>
          <a:p>
            <a:r>
              <a:t>main business line.</a:t>
            </a:r>
          </a:p>
          <a:p>
            <a:r>
              <a:t>PulseCommerce</a:t>
            </a:r>
          </a:p>
          <a:p>
            <a:r>
              <a:t>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messaging layer</a:t>
            </a:r>
          </a:p>
          <a:p>
            <a:r>
              <a:t>Your own private WhatsApp gateway</a:t>
            </a:r>
          </a:p>
          <a:p>
            <a:r>
              <a:t>A dedicated WhatsApp messaging server, running on infrastructure</a:t>
            </a:r>
          </a:p>
          <a:p>
            <a:r>
              <a:t>Nature's Joy controls. Not a shared platform, not a reseller account.</a:t>
            </a:r>
          </a:p>
          <a:p>
            <a:r>
              <a:t>Nobody between you and WhatsApp</a:t>
            </a:r>
          </a:p>
          <a:p>
            <a:r>
              <a:t>No platform sits in the middle holding your customer list, your message</a:t>
            </a:r>
          </a:p>
          <a:p>
            <a:r>
              <a:t>history or your number. The gateway is yours, on your server.</a:t>
            </a:r>
          </a:p>
          <a:p>
            <a:r>
              <a:t>No per-message fee, ever</a:t>
            </a:r>
          </a:p>
          <a:p>
            <a:r>
              <a:t>Messages cost nothing to send. The only running cost is the server</a:t>
            </a:r>
          </a:p>
          <a:p>
            <a:r>
              <a:t>itself, roughly ₹500 a month, billed by your host.</a:t>
            </a:r>
          </a:p>
          <a:p>
            <a:r>
              <a:t>No subscription to cancel</a:t>
            </a:r>
          </a:p>
          <a:p>
            <a:r>
              <a:t>Nothing to renew, no plan to outgrow, no price rise. The software is</a:t>
            </a:r>
          </a:p>
          <a:p>
            <a:r>
              <a:t>yours with the source code.</a:t>
            </a:r>
          </a:p>
          <a:p>
            <a:r>
              <a:t>What you give up</a:t>
            </a:r>
          </a:p>
          <a:p>
            <a:r>
              <a:t>Delivery is not guaranteed the way Meta's official API</a:t>
            </a:r>
          </a:p>
          <a:p>
            <a:r>
              <a:t>guarantees it, tappable buttons are unavailable, and WhatsApp may restrict</a:t>
            </a:r>
          </a:p>
          <a:p>
            <a:r>
              <a:t>the number used. A dedicated number is essential.</a:t>
            </a:r>
          </a:p>
          <a:p>
            <a:r>
              <a:t>*</a:t>
            </a:r>
          </a:p>
          <a:p>
            <a:r>
              <a:t>Who it suits</a:t>
            </a:r>
          </a:p>
          <a:p>
            <a:r>
              <a:t>A store messaging its own past customers at volume, where</a:t>
            </a:r>
          </a:p>
          <a:p>
            <a:r>
              <a:t>the per-message fee dominates the cost and an occasional undelivered</a:t>
            </a:r>
          </a:p>
          <a:p>
            <a:r>
              <a:t>message is tolerable.</a:t>
            </a:r>
          </a:p>
          <a:p>
            <a:r>
              <a:t>* See the terms slides. If guaranteed delivery matters more than cost, the Cloud API option below is the right choice.</a:t>
            </a:r>
          </a:p>
          <a:p>
            <a:r>
              <a:t>PulseCommerce</a:t>
            </a:r>
          </a:p>
          <a:p>
            <a:r>
              <a:t>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</a:t>
            </a:r>
          </a:p>
          <a:p>
            <a:r>
              <a:t>Pay once, or pay every month</a:t>
            </a:r>
          </a:p>
          <a:p>
            <a:r>
              <a:t>₹35,000</a:t>
            </a:r>
          </a:p>
          <a:p>
            <a:r>
              <a:t>once, then nothing</a:t>
            </a:r>
          </a:p>
          <a:p>
            <a:r>
              <a:t>PulseCommerce + your own private WhatsApp gateway</a:t>
            </a:r>
          </a:p>
          <a:p>
            <a:r>
              <a:t>All thirteen modules</a:t>
            </a:r>
          </a:p>
          <a:p>
            <a:r>
              <a:t>No cost per message, ever</a:t>
            </a:r>
          </a:p>
          <a:p>
            <a:r>
              <a:t>No template approval — write and send</a:t>
            </a:r>
          </a:p>
          <a:p>
            <a:r>
              <a:t>≈ ₹500/month server, billed by your host</a:t>
            </a:r>
          </a:p>
          <a:p>
            <a:r>
              <a:t>Delivery not guaranteed; dedicated number needed</a:t>
            </a:r>
          </a:p>
          <a:p>
            <a:r>
              <a:t>₹25,000</a:t>
            </a:r>
          </a:p>
          <a:p>
            <a:r>
              <a:t>once, then ≈ ₹10,000 every month</a:t>
            </a:r>
          </a:p>
          <a:p>
            <a:r>
              <a:t>*</a:t>
            </a:r>
          </a:p>
          <a:p>
            <a:r>
              <a:t>PulseCommerce + Meta's official WhatsApp Cloud API</a:t>
            </a:r>
          </a:p>
          <a:p>
            <a:r>
              <a:t>Meta charges per conversation, forever</a:t>
            </a:r>
          </a:p>
          <a:p>
            <a:r>
              <a:t>Templates need Meta's approval</a:t>
            </a:r>
          </a:p>
          <a:p>
            <a:r>
              <a:t>Guaranteed delivery, tappable buttons</a:t>
            </a:r>
          </a:p>
          <a:p>
            <a:r>
              <a:t>No server to run</a:t>
            </a:r>
          </a:p>
          <a:p>
            <a:r>
              <a:t>Over three years that is</a:t>
            </a:r>
          </a:p>
          <a:p>
            <a:r>
              <a:t>₹53,000</a:t>
            </a:r>
          </a:p>
          <a:p>
            <a:r>
              <a:t>against</a:t>
            </a:r>
          </a:p>
          <a:p>
            <a:r>
              <a:t>₹3,85,000</a:t>
            </a:r>
          </a:p>
          <a:p>
            <a:r>
              <a:t>difference is not the build — it is the per-message fee, which never stops.</a:t>
            </a:r>
          </a:p>
          <a:p>
            <a:r>
              <a:t>Both cover the thirteen modules and nothing beyond</a:t>
            </a:r>
          </a:p>
          <a:p>
            <a:r>
              <a:t>them. Additional modules, custom metrics, integrations, automation, support or</a:t>
            </a:r>
          </a:p>
          <a:p>
            <a:r>
              <a:t>managed hosting are quoted separately and never started without a written</a:t>
            </a:r>
          </a:p>
          <a:p>
            <a:r>
              <a:t>quotation you have accepted.</a:t>
            </a:r>
          </a:p>
          <a:p>
            <a:r>
              <a:t>* One campaign a month to your 11,224 customers, at roughly ₹0.89 per marketing conversation. Meta sets these rates and changes them without notice.</a:t>
            </a:r>
          </a:p>
          <a:p>
            <a:r>
              <a:t>Setups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feature list · 1 of 2</a:t>
            </a:r>
          </a:p>
          <a:p>
            <a:r>
              <a:t>Everything included, analytics</a:t>
            </a:r>
          </a:p>
          <a:p>
            <a:r>
              <a:t>Revenue</a:t>
            </a:r>
          </a:p>
          <a:p>
            <a:r>
              <a:t>Net and gross revenue · orders · average order value · units · discounts · shipping · tax · refunds · items per order · revenue per customer · cancellation rate · period-on-period comparison · day, week and month views · sparkline trends · generated findings ranked by urgency</a:t>
            </a:r>
          </a:p>
          <a:p>
            <a:r>
              <a:t>Customers</a:t>
            </a:r>
          </a:p>
          <a:p>
            <a:r>
              <a:t>RFM scoring · ten segments · five value tiers · predicted lifetime value · churn risk · revenue deciles · Pareto curve · Gini coefficient · recency-frequency plot · top-customer spotlight · high value, low value, at risk and rising cohorts · full ledger with expandable orders</a:t>
            </a:r>
          </a:p>
          <a:p>
            <a:r>
              <a:t>Acquisition</a:t>
            </a:r>
          </a:p>
          <a:p>
            <a:r>
              <a:t>New versus returning revenue · full customer tables · channel attribution · first-time buyer analysis by channel · device breakdown · pages per session · time to second order with quartiles · monthly cohort retention · cumulative lifetime value curve · attribution coverage</a:t>
            </a:r>
          </a:p>
          <a:p>
            <a:r>
              <a:t>Products</a:t>
            </a:r>
          </a:p>
          <a:p>
            <a:r>
              <a:t>ABC classification · Pareto concentration · revenue, units, orders and customers per product · price and velocity · refund rate per product · average rating · market-basket affinity by lift · category mix · best sellers by value and volume · slow movers · never-sold items</a:t>
            </a:r>
          </a:p>
          <a:p>
            <a:r>
              <a:t>Inventory</a:t>
            </a:r>
          </a:p>
          <a:p>
            <a:r>
              <a:t>Days of cover · reorder points from your lead time · suggested order quantities · out of stock, critical, low, healthy and overstocked states · revenue at risk · capital tied up · restock planner · draft purchase order export</a:t>
            </a:r>
          </a:p>
          <a:p>
            <a:r>
              <a:t>Operations &amp; forecast</a:t>
            </a:r>
          </a:p>
          <a:p>
            <a:r>
              <a:t>Full order register · status mix · basket-size distribution · payment method performance · day-by-hour trading heatmap · weekday performance · fulfilment timing · daily revenue projection · 95% confidence band · weekday seasonality · geography by state, city and region</a:t>
            </a:r>
          </a:p>
          <a:p>
            <a:r>
              <a:t>PulseCommerce</a:t>
            </a:r>
          </a:p>
          <a:p>
            <a:r>
              <a:t>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feature list · 2 of 2</a:t>
            </a:r>
          </a:p>
          <a:p>
            <a:r>
              <a:t>Everything included, messaging and platform</a:t>
            </a:r>
          </a:p>
          <a:p>
            <a:r>
              <a:t>Campaigns</a:t>
            </a:r>
          </a:p>
          <a:p>
            <a:r>
              <a:t>Audience builder with live reach · six goal presets · filters on segment, tier, recency, spend, orders, churn risk, country, account type, product bought and contactability · revenue and predicted value at stake · CSV export for email and ads platforms · campaign performance from UTM tags · coupon return on discount</a:t>
            </a:r>
          </a:p>
          <a:p>
            <a:r>
              <a:t>WhatsApp</a:t>
            </a:r>
          </a:p>
          <a:p>
            <a:r>
              <a:t>Text, image and video · nine templates · ten personalisation variables · per-customer product photos · catalogue product picker · coupon creation and attachment · dry run · test send · typed confirmation · opt-out list · paced sending with jitter · resumable jobs · automatic recovery · live progress and stop control</a:t>
            </a:r>
          </a:p>
          <a:p>
            <a:r>
              <a:t>Inbox</a:t>
            </a:r>
          </a:p>
          <a:p>
            <a:r>
              <a:t>Conversations matched to customers · order count and lifetime spend beside each · link to full profile · live reply polling · text, media and product replies · start a conversation from a number · unread counts · search across names and numbers · opt-out honoured</a:t>
            </a:r>
          </a:p>
          <a:p>
            <a:r>
              <a:t>Reports</a:t>
            </a:r>
          </a:p>
          <a:p>
            <a:r>
              <a:t>Ten report types · Excel with formatted sheets, filters and currency formats · PDF with cover, KPIs and findings · CSV for pipelines · board pack, CRM upload, merchandising and finance presets · written report view · exports match the on-screen date range and are never truncated</a:t>
            </a:r>
          </a:p>
          <a:p>
            <a:r>
              <a:t>Platform</a:t>
            </a:r>
          </a:p>
          <a:p>
            <a:r>
              <a:t>Multiple stores with instant switching · command palette across customers, products and orders · keyboard navigation throughout · light and dark themes · persisted date ranges · sortable, searchable, expandable tables · optional password protection · honest empty states · partial-data warnings surfaced</a:t>
            </a:r>
          </a:p>
          <a:p>
            <a:r>
              <a:t>Security</a:t>
            </a:r>
          </a:p>
          <a:p>
            <a:r>
              <a:t>Approval inside your own WordPress admin · no credential ever typed into a form · verified before saving · keys shown masked · phone numbers never sent to the browser · opt-outs enforced on the server · one-click disconnect wipes everything cached</a:t>
            </a:r>
          </a:p>
          <a:p>
            <a:r>
              <a:t>PulseCommerce</a:t>
            </a:r>
          </a:p>
          <a:p>
            <a:r>
              <a:t>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Terms &amp; conditions · 1 of 2</a:t>
            </a:r>
          </a:p>
          <a:p>
            <a:r>
              <a:t>What the figures mean</a:t>
            </a:r>
          </a:p>
          <a:p>
            <a:r>
              <a:t>Measurement window</a:t>
            </a:r>
          </a:p>
          <a:p>
            <a:r>
              <a:t>All store figures were computed from</a:t>
            </a:r>
          </a:p>
          <a:p>
            <a:r>
              <a:t>naturesjoystore.com covering 1 August 2025 to 31 July 2026, across 20,444 orders</a:t>
            </a:r>
          </a:p>
          <a:p>
            <a:r>
              <a:t>retrieved through the WooCommerce REST API. Figures change as the store trades and</a:t>
            </a:r>
          </a:p>
          <a:p>
            <a:r>
              <a:t>should be re-run before being relied upon.</a:t>
            </a:r>
          </a:p>
          <a:p>
            <a:r>
              <a:t>How revenue is counted</a:t>
            </a:r>
          </a:p>
          <a:p>
            <a:r>
              <a:t>Net revenue is order total less tax, shipping</a:t>
            </a:r>
          </a:p>
          <a:p>
            <a:r>
              <a:t>and refunds, counting only orders in completed, processing or on-hold status. Cancelled,</a:t>
            </a:r>
          </a:p>
          <a:p>
            <a:r>
              <a:t>failed and pending orders are excluded from revenue but included in cancellation rates.</a:t>
            </a:r>
          </a:p>
          <a:p>
            <a:r>
              <a:t>This may differ from figures shown elsewhere in WooCommerce, which counts differently.</a:t>
            </a:r>
          </a:p>
          <a:p>
            <a:r>
              <a:t>How customers are counted</a:t>
            </a:r>
          </a:p>
          <a:p>
            <a:r>
              <a:t>Guest checkouts carry no WooCommerce customer</a:t>
            </a:r>
          </a:p>
          <a:p>
            <a:r>
              <a:t>ID, so buyers are identified by billing email address. One person ordering under two email</a:t>
            </a:r>
          </a:p>
          <a:p>
            <a:r>
              <a:t>addresses counts as two customers. Customer counts and repeat rates are affected accordingly.</a:t>
            </a:r>
          </a:p>
          <a:p>
            <a:r>
              <a:t>Projections and illustrations</a:t>
            </a:r>
          </a:p>
          <a:p>
            <a:r>
              <a:t>Win-back revenue, campaign returns, break-even points and forecasts are</a:t>
            </a:r>
          </a:p>
          <a:p>
            <a:r>
              <a:t>illustrations based on stated assumptions. They are not forecasts, guarantees, warranties</a:t>
            </a:r>
          </a:p>
          <a:p>
            <a:r>
              <a:t>or commitments of any kind. Actual results will differ, potentially materially.</a:t>
            </a:r>
          </a:p>
          <a:p>
            <a:r>
              <a:t>Statistical limits</a:t>
            </a:r>
          </a:p>
          <a:p>
            <a:r>
              <a:t>Predicted lifetime value and churn risk are</a:t>
            </a:r>
          </a:p>
          <a:p>
            <a:r>
              <a:t>estimates derived from observed purchase behaviour. Forecasts use a least-squares trend with</a:t>
            </a:r>
          </a:p>
          <a:p>
            <a:r>
              <a:t>day-of-week seasonality and know nothing of planned promotions, stock availability, price</a:t>
            </a:r>
          </a:p>
          <a:p>
            <a:r>
              <a:t>changes or seasonality outside the period analysed.</a:t>
            </a:r>
          </a:p>
          <a:p>
            <a:r>
              <a:t>Third-party pricing</a:t>
            </a:r>
          </a:p>
          <a:p>
            <a:r>
              <a:t>WhatsApp Cloud API rates are set by Meta, vary by</a:t>
            </a:r>
          </a:p>
          <a:p>
            <a:r>
              <a:t>country and message category, and change without notice. The rates shown are illustrative</a:t>
            </a:r>
          </a:p>
          <a:p>
            <a:r>
              <a:t>ranges, not quotations. Confirm current pricing with Meta before making a decision on that basis.</a:t>
            </a:r>
          </a:p>
          <a:p>
            <a:r>
              <a:t>Costs not included</a:t>
            </a:r>
          </a:p>
          <a:p>
            <a:r>
              <a:t>Server hosting for the WhatsApp gateway, estimated</a:t>
            </a:r>
          </a:p>
          <a:p>
            <a:r>
              <a:t>at approximately ₹500 per month, is billed by your hosting provider and is not included in the</a:t>
            </a:r>
          </a:p>
          <a:p>
            <a:r>
              <a:t>quoted price. A dedicated phone number for WhatsApp sending is also not included. Domain,</a:t>
            </a:r>
          </a:p>
          <a:p>
            <a:r>
              <a:t>SSL and WooCommerce hosting remain your existing arrangements.</a:t>
            </a:r>
          </a:p>
          <a:p>
            <a:r>
              <a:t>Inventory figures</a:t>
            </a:r>
          </a:p>
          <a:p>
            <a:r>
              <a:t>Days of cover and revenue at risk are calculated from observed sales velocity</a:t>
            </a:r>
          </a:p>
          <a:p>
            <a:r>
              <a:t>and current stock levels where WooCommerce tracks them. Products without stock management</a:t>
            </a:r>
          </a:p>
          <a:p>
            <a:r>
              <a:t>enabled cannot be planned for.</a:t>
            </a:r>
          </a:p>
          <a:p>
            <a:r>
              <a:t>Setups Works · setups.works</a:t>
            </a:r>
          </a:p>
          <a:p>
            <a:r>
              <a:t>Terms 1 /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Terms &amp; conditions · 2 of 2</a:t>
            </a:r>
          </a:p>
          <a:p>
            <a:r>
              <a:t>Delivery, risk and the quote</a:t>
            </a:r>
          </a:p>
          <a:p>
            <a:r>
              <a:t>WhatsApp delivery is not guaranteed</a:t>
            </a:r>
          </a:p>
          <a:p>
            <a:r>
              <a:t>Messaging uses a self-hosted gateway connecting</a:t>
            </a:r>
          </a:p>
          <a:p>
            <a:r>
              <a:t>through unofficial, reverse-engineered clients rather than Meta's official WhatsApp Business</a:t>
            </a:r>
          </a:p>
          <a:p>
            <a:r>
              <a:t>API. Message delivery is not guaranteed. WhatsApp may, at its sole discretion and without</a:t>
            </a:r>
          </a:p>
          <a:p>
            <a:r>
              <a:t>notice, restrict, suspend or permanently ban any number used for automated messaging. No</a:t>
            </a:r>
          </a:p>
          <a:p>
            <a:r>
              <a:t>appeal route exists through this software or through Setups Works.</a:t>
            </a:r>
          </a:p>
          <a:p>
            <a:r>
              <a:t>Use a dedicated number</a:t>
            </a:r>
          </a:p>
          <a:p>
            <a:r>
              <a:t>A number reserved for this purpose must be used,</a:t>
            </a:r>
          </a:p>
          <a:p>
            <a:r>
              <a:t>never the primary business line. Setups Works accepts no liability for the restriction, loss</a:t>
            </a:r>
          </a:p>
          <a:p>
            <a:r>
              <a:t>or suspension of any number, for messages that fail to deliver, or for consequential business</a:t>
            </a:r>
          </a:p>
          <a:p>
            <a:r>
              <a:t>loss arising from either.</a:t>
            </a:r>
          </a:p>
          <a:p>
            <a:r>
              <a:t>Your responsibility when messaging</a:t>
            </a:r>
          </a:p>
          <a:p>
            <a:r>
              <a:t>You are responsible for ensuring messages sent</a:t>
            </a:r>
          </a:p>
          <a:p>
            <a:r>
              <a:t>comply with applicable law, including consent, data protection and unsolicited-communication</a:t>
            </a:r>
          </a:p>
          <a:p>
            <a:r>
              <a:t>rules in the recipient's jurisdiction, and with WhatsApp's own terms. The opt-out list is</a:t>
            </a:r>
          </a:p>
          <a:p>
            <a:r>
              <a:t>provided as a tool; honouring requests to stop remains your obligation.</a:t>
            </a:r>
          </a:p>
          <a:p>
            <a:r>
              <a:t>Features outside this route</a:t>
            </a:r>
          </a:p>
          <a:p>
            <a:r>
              <a:t>Tappable buttons and product cards are features of Meta's official API and</a:t>
            </a:r>
          </a:p>
          <a:p>
            <a:r>
              <a:t>cannot be delivered by a self-hosted gateway. They are excluded from this scope.</a:t>
            </a:r>
          </a:p>
          <a:p>
            <a:r>
              <a:t>Your data</a:t>
            </a:r>
          </a:p>
          <a:p>
            <a:r>
              <a:t>All store and customer data remains the property</a:t>
            </a:r>
          </a:p>
          <a:p>
            <a:r>
              <a:t>of Nature's Joy and stays on infrastructure you control. No data is transmitted to Setups</a:t>
            </a:r>
          </a:p>
          <a:p>
            <a:r>
              <a:t>Works or to any third-party analytics or messaging service. Store access is read-only with a</a:t>
            </a:r>
          </a:p>
          <a:p>
            <a:r>
              <a:t>single exception: creating the discount coupons you request. Access can be revoked at any time</a:t>
            </a:r>
          </a:p>
          <a:p>
            <a:r>
              <a:t>from WordPress without notice to us.</a:t>
            </a:r>
          </a:p>
          <a:p>
            <a:r>
              <a:t>Scope and ownership</a:t>
            </a:r>
          </a:p>
          <a:p>
            <a:r>
              <a:t>The quoted fee, ₹25,000 or ₹35,000 depending on the messaging route chosen, covers the build, deployment,</a:t>
            </a:r>
          </a:p>
          <a:p>
            <a:r>
              <a:t>configuration, documentation and handover of the thirteen modules described in this document.</a:t>
            </a:r>
          </a:p>
          <a:p>
            <a:r>
              <a:t>Source code is delivered to a repository owned by Nature's Joy. Work outside this scope,</a:t>
            </a:r>
          </a:p>
          <a:p>
            <a:r>
              <a:t>including additional modules, custom metrics, integrations or ongoing support, is quoted</a:t>
            </a:r>
          </a:p>
          <a:p>
            <a:r>
              <a:t>separately.</a:t>
            </a:r>
          </a:p>
          <a:p>
            <a:r>
              <a:t>Validity and payment</a:t>
            </a:r>
          </a:p>
          <a:p>
            <a:r>
              <a:t>This quotation is valid for 30 days from the date</a:t>
            </a:r>
          </a:p>
          <a:p>
            <a:r>
              <a:t>of issue. Payment terms to be agreed in writing before work commences.</a:t>
            </a:r>
          </a:p>
          <a:p>
            <a:r>
              <a:t>Third-party software</a:t>
            </a:r>
          </a:p>
          <a:p>
            <a:r>
              <a:t>The WhatsApp gateway is independent open-source software, provided under its</a:t>
            </a:r>
          </a:p>
          <a:p>
            <a:r>
              <a:t>own licence and maintained by its own authors. Setups Works does not control its development,</a:t>
            </a:r>
          </a:p>
          <a:p>
            <a:r>
              <a:t>availability or continued compatibility with WhatsApp.</a:t>
            </a:r>
          </a:p>
          <a:p>
            <a:r>
              <a:t>Setups Works · setups.works</a:t>
            </a:r>
          </a:p>
          <a:p>
            <a:r>
              <a:t>Terms 2 /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</a:t>
            </a:r>
          </a:p>
          <a:p>
            <a:r>
              <a:t>How this proceeds</a:t>
            </a:r>
          </a:p>
          <a:p>
            <a:r>
              <a:t>Step 1</a:t>
            </a:r>
          </a:p>
          <a:p>
            <a:r>
              <a:t>Confirm scope</a:t>
            </a:r>
          </a:p>
          <a:p>
            <a:r>
              <a:t>Agree which modules matter most and confirm the commercial terms.</a:t>
            </a:r>
          </a:p>
          <a:p>
            <a:r>
              <a:t>Step 2</a:t>
            </a:r>
          </a:p>
          <a:p>
            <a:r>
              <a:t>Walkthrough</a:t>
            </a:r>
          </a:p>
          <a:p>
            <a:r>
              <a:t>See the platform running against your own data, before rollout.</a:t>
            </a:r>
          </a:p>
          <a:p>
            <a:r>
              <a:t>Step 3</a:t>
            </a:r>
          </a:p>
          <a:p>
            <a:r>
              <a:t>Deploy</a:t>
            </a:r>
          </a:p>
          <a:p>
            <a:r>
              <a:t>Platform and gateway set up on your infrastructure and verified.</a:t>
            </a:r>
          </a:p>
          <a:p>
            <a:r>
              <a:t>Step 4</a:t>
            </a:r>
          </a:p>
          <a:p>
            <a:r>
              <a:t>Handover</a:t>
            </a:r>
          </a:p>
          <a:p>
            <a:r>
              <a:t>Training, documentation, and the code in your own repository.</a:t>
            </a:r>
          </a:p>
          <a:p>
            <a:r>
              <a:t>Nitheesh Rajendran</a:t>
            </a:r>
          </a:p>
          <a:p>
            <a:r>
              <a:t>Founder &amp; Developer · Setups Works</a:t>
            </a:r>
          </a:p>
          <a:p>
            <a:r>
              <a:t>setups.works · linkedin.com/in/nitheeshdr</a:t>
            </a:r>
          </a:p>
          <a:p>
            <a:r>
              <a:t>PulseCommerce</a:t>
            </a:r>
          </a:p>
          <a:p>
            <a:r>
              <a:t>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